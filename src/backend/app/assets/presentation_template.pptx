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91" r:id="rId3"/>
    <p:sldId id="270" r:id="rId5"/>
    <p:sldId id="259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3F82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05" autoAdjust="0"/>
    <p:restoredTop sz="94660"/>
  </p:normalViewPr>
  <p:slideViewPr>
    <p:cSldViewPr snapToGrid="0" showGuides="1">
      <p:cViewPr>
        <p:scale>
          <a:sx n="79" d="100"/>
          <a:sy n="79" d="100"/>
        </p:scale>
        <p:origin x="1968" y="10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zh-CN" sz="1600" b="1"/>
              <a:t>PaLM-540B 少样本提示结果(数值越高越好)</a:t>
            </a:r>
            <a:endParaRPr lang="zh-CN" sz="1600" b="1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HotpotQA(EM)</c:f>
              <c:strCache>
                <c:ptCount val="1"/>
                <c:pt idx="0">
                  <c:v>HotpotQA(EM)</c:v>
                </c:pt>
              </c:strCache>
            </c:strRef>
          </c:tx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{"Standard","CoT","Act-only","ReAct"}</c:f>
              <c:strCache>
                <c:ptCount val="4"/>
                <c:pt idx="0">
                  <c:v>Standard</c:v>
                </c:pt>
                <c:pt idx="1">
                  <c:v>CoT</c:v>
                </c:pt>
                <c:pt idx="2">
                  <c:v>Act-only</c:v>
                </c:pt>
                <c:pt idx="3">
                  <c:v>ReAct</c:v>
                </c:pt>
              </c:strCache>
            </c:strRef>
          </c:cat>
          <c:val>
            <c:numRef>
              <c:f>{28.7,29.4,25.7,27.4}</c:f>
              <c:numCache>
                <c:formatCode>General</c:formatCode>
                <c:ptCount val="4"/>
                <c:pt idx="0">
                  <c:v>28.7</c:v>
                </c:pt>
                <c:pt idx="1">
                  <c:v>29.4</c:v>
                </c:pt>
                <c:pt idx="2">
                  <c:v>25.7</c:v>
                </c:pt>
                <c:pt idx="3">
                  <c:v>27.4</c:v>
                </c:pt>
              </c:numCache>
            </c:numRef>
          </c:val>
        </c:ser>
        <c:ser>
          <c:idx val="1"/>
          <c:order val="1"/>
          <c:tx>
            <c:strRef>
              <c:f>FEVER(Acc)</c:f>
              <c:strCache>
                <c:ptCount val="1"/>
                <c:pt idx="0">
                  <c:v>FEVER(Acc)</c:v>
                </c:pt>
              </c:strCache>
            </c:strRef>
          </c:tx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{"Standard","CoT","Act-only","ReAct"}</c:f>
              <c:strCache>
                <c:ptCount val="4"/>
                <c:pt idx="0">
                  <c:v>Standard</c:v>
                </c:pt>
                <c:pt idx="1">
                  <c:v>CoT</c:v>
                </c:pt>
                <c:pt idx="2">
                  <c:v>Act-only</c:v>
                </c:pt>
                <c:pt idx="3">
                  <c:v>ReAct</c:v>
                </c:pt>
              </c:strCache>
            </c:strRef>
          </c:cat>
          <c:val>
            <c:numRef>
              <c:f>{57.1,56.3,58.9,60.9}</c:f>
              <c:numCache>
                <c:formatCode>General</c:formatCode>
                <c:ptCount val="4"/>
                <c:pt idx="0">
                  <c:v>57.1</c:v>
                </c:pt>
                <c:pt idx="1">
                  <c:v>56.3</c:v>
                </c:pt>
                <c:pt idx="2">
                  <c:v>58.9</c:v>
                </c:pt>
                <c:pt idx="3">
                  <c:v>60.9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autoZero"/>
        <c:crossBetween val="between"/>
      </c:valAx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1"/>
    <c:extLst>
      <c:ext uri="{0b15fc19-7d7d-44ad-8c2d-2c3a37ce22c3}">
        <chartProps xmlns="https://web.wps.cn/et/2018/main" chartId="{49cfbfa6-54c2-4c65-9b0c-41b818cd8b11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microsoft.com/office/2007/relationships/hdphoto" Target="../media/image4.wdp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microsoft.com/office/2007/relationships/hdphoto" Target="../media/image4.wdp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microsoft.com/office/2007/relationships/hdphoto" Target="../media/image4.wdp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microsoft.com/office/2007/relationships/hdphoto" Target="../media/image4.wdp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microsoft.com/office/2007/relationships/hdphoto" Target="../media/image4.wdp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microsoft.com/office/2007/relationships/hdphoto" Target="../media/image4.wdp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microsoft.com/office/2007/relationships/hdphoto" Target="../media/image4.wdp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分隔线"/>
          <p:cNvSpPr/>
          <p:nvPr/>
        </p:nvSpPr>
        <p:spPr>
          <a:xfrm>
            <a:off x="5715000" y="3714480"/>
            <a:ext cx="762000" cy="50800"/>
          </a:xfrm>
          <a:prstGeom prst="rect">
            <a:avLst/>
          </a:prstGeom>
          <a:solidFill>
            <a:srgbClr val="153F82"/>
          </a:solidFill>
          <a:ln>
            <a:noFill/>
          </a:ln>
        </p:spPr>
        <p:txBody>
          <a:bodyPr/>
          <a:lstStyle/>
          <a:p>
            <a:endParaRPr lang="zh-CN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pic>
        <p:nvPicPr>
          <p:cNvPr id="905" name="实验室Logo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88410" y="6350"/>
            <a:ext cx="2063750" cy="2063750"/>
          </a:xfrm>
          <a:prstGeom prst="rect">
            <a:avLst/>
          </a:prstGeom>
        </p:spPr>
      </p:pic>
      <p:pic>
        <p:nvPicPr>
          <p:cNvPr id="906" name="校徽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43600" y="292100"/>
            <a:ext cx="2489200" cy="17145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09600" y="2190480"/>
            <a:ext cx="10972800" cy="1143000"/>
          </a:xfrm>
        </p:spPr>
        <p:txBody>
          <a:bodyPr lIns="90000" tIns="46800" rIns="90000" bIns="46800" anchor="ctr" anchorCtr="0">
            <a:normAutofit/>
          </a:bodyPr>
          <a:lstStyle>
            <a:lvl1pPr algn="ctr">
              <a:buNone/>
              <a:defRPr sz="4400" b="1">
                <a:solidFill>
                  <a:srgbClr val="153F8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09600" y="4060992"/>
            <a:ext cx="10972800" cy="508000"/>
          </a:xfrm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944" name="汇报人"/>
          <p:cNvSpPr>
            <a:spLocks noGrp="1"/>
          </p:cNvSpPr>
          <p:nvPr>
            <p:ph type="body" sz="quarter" idx="20" hasCustomPrompt="1"/>
          </p:nvPr>
        </p:nvSpPr>
        <p:spPr>
          <a:xfrm>
            <a:off x="3048000" y="5148113"/>
            <a:ext cx="6096000" cy="406400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r>
              <a:rPr lang="zh-CN" altLang="en-US" dirty="0"/>
              <a:t>汇报人：姓名</a:t>
            </a:r>
            <a:endParaRPr lang="zh-CN" altLang="en-US" dirty="0"/>
          </a:p>
        </p:txBody>
      </p:sp>
      <p:sp>
        <p:nvSpPr>
          <p:cNvPr id="945" name="时间"/>
          <p:cNvSpPr>
            <a:spLocks noGrp="1"/>
          </p:cNvSpPr>
          <p:nvPr>
            <p:ph type="body" sz="quarter" idx="21" hasCustomPrompt="1"/>
          </p:nvPr>
        </p:nvSpPr>
        <p:spPr>
          <a:xfrm>
            <a:off x="3048000" y="5605313"/>
            <a:ext cx="6096000" cy="355600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defRPr>
            </a:lvl1pPr>
          </a:lstStyle>
          <a:p>
            <a:r>
              <a:rPr lang="zh-CN" altLang="en-US" dirty="0"/>
              <a:t>2026 年 6 月</a:t>
            </a:r>
            <a:endParaRPr lang="zh-CN" altLang="en-US" dirty="0"/>
          </a:p>
        </p:txBody>
      </p:sp>
      <p:sp>
        <p:nvSpPr>
          <p:cNvPr id="951" name="饰带文字左"/>
          <p:cNvSpPr/>
          <p:nvPr/>
        </p:nvSpPr>
        <p:spPr>
          <a:xfrm>
            <a:off x="4360821" y="1476238"/>
            <a:ext cx="894562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altLang="zh-CN" sz="1400" b="1" dirty="0">
                <a:solidFill>
                  <a:srgbClr val="153F82"/>
                </a:solidFill>
              </a:rPr>
              <a:t>REAL Lab</a:t>
            </a:r>
            <a:endParaRPr lang="en-US" altLang="zh-CN" sz="1400" b="1" dirty="0">
              <a:solidFill>
                <a:srgbClr val="153F8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顶栏灰带"/>
          <p:cNvSpPr/>
          <p:nvPr userDrawn="1"/>
        </p:nvSpPr>
        <p:spPr>
          <a:xfrm>
            <a:off x="7747000" y="-12700"/>
            <a:ext cx="4445000" cy="81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zh-CN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sp>
        <p:nvSpPr>
          <p:cNvPr id="901" name="顶栏"/>
          <p:cNvSpPr/>
          <p:nvPr userDrawn="1"/>
        </p:nvSpPr>
        <p:spPr>
          <a:xfrm>
            <a:off x="-25400" y="-12700"/>
            <a:ext cx="9099868" cy="812800"/>
          </a:xfrm>
          <a:custGeom>
            <a:avLst/>
            <a:gdLst/>
            <a:ahLst/>
            <a:cxnLst/>
            <a:rect l="l" t="t" r="r" b="b"/>
            <a:pathLst>
              <a:path w="14291" h="1529">
                <a:moveTo>
                  <a:pt x="0" y="0"/>
                </a:moveTo>
                <a:lnTo>
                  <a:pt x="14291" y="0"/>
                </a:lnTo>
                <a:lnTo>
                  <a:pt x="12709" y="1529"/>
                </a:lnTo>
                <a:lnTo>
                  <a:pt x="0" y="1529"/>
                </a:lnTo>
                <a:close/>
              </a:path>
            </a:pathLst>
          </a:custGeom>
          <a:solidFill>
            <a:srgbClr val="153F82"/>
          </a:solidFill>
          <a:ln>
            <a:noFill/>
          </a:ln>
        </p:spPr>
        <p:txBody>
          <a:bodyPr/>
          <a:lstStyle/>
          <a:p>
            <a:endParaRPr lang="zh-CN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9390"/>
            <a:ext cx="7239000" cy="768621"/>
          </a:xfrm>
        </p:spPr>
        <p:txBody>
          <a:bodyPr anchor="ctr"/>
          <a:lstStyle>
            <a:lvl1pPr algn="l">
              <a:defRPr sz="3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endParaRPr lang="zh-CN"/>
          </a:p>
        </p:txBody>
      </p:sp>
      <p:sp>
        <p:nvSpPr>
          <p:cNvPr id="920" name="编号占位符 1"/>
          <p:cNvSpPr>
            <a:spLocks noGrp="1"/>
          </p:cNvSpPr>
          <p:nvPr>
            <p:ph type="body" sz="quarter" idx="21" hasCustomPrompt="1"/>
          </p:nvPr>
        </p:nvSpPr>
        <p:spPr>
          <a:xfrm>
            <a:off x="635000" y="1488440"/>
            <a:ext cx="8255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0" indent="0" algn="l">
              <a:buNone/>
              <a:defRPr sz="3600" b="1">
                <a:solidFill>
                  <a:srgbClr val="153F82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r>
              <a:rPr lang="en-US" dirty="0"/>
              <a:t>01</a:t>
            </a:r>
            <a:endParaRPr lang="en-US" dirty="0"/>
          </a:p>
        </p:txBody>
      </p:sp>
      <p:sp>
        <p:nvSpPr>
          <p:cNvPr id="930" name="目录条目 1"/>
          <p:cNvSpPr>
            <a:spLocks noGrp="1"/>
          </p:cNvSpPr>
          <p:nvPr>
            <p:ph type="body" sz="quarter" idx="11"/>
          </p:nvPr>
        </p:nvSpPr>
        <p:spPr>
          <a:xfrm>
            <a:off x="1549400" y="1488440"/>
            <a:ext cx="10058400" cy="635000"/>
          </a:xfrm>
        </p:spPr>
        <p:txBody>
          <a:bodyPr anchor="ctr"/>
          <a:lstStyle>
            <a:lvl1pPr marL="0" indent="0" algn="l">
              <a:buNone/>
              <a:defRPr sz="2800" b="1">
                <a:solidFill>
                  <a:srgbClr val="153F82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endParaRPr lang="zh-CN"/>
          </a:p>
        </p:txBody>
      </p:sp>
      <p:sp>
        <p:nvSpPr>
          <p:cNvPr id="921" name="编号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635000" y="2402840"/>
            <a:ext cx="8255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0" indent="0" algn="l">
              <a:buNone/>
              <a:defRPr sz="3600" b="1">
                <a:solidFill>
                  <a:srgbClr val="153F82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r>
              <a:rPr lang="en-US" dirty="0"/>
              <a:t>02</a:t>
            </a:r>
            <a:endParaRPr lang="en-US" dirty="0"/>
          </a:p>
        </p:txBody>
      </p:sp>
      <p:sp>
        <p:nvSpPr>
          <p:cNvPr id="931" name="目录条目 2"/>
          <p:cNvSpPr>
            <a:spLocks noGrp="1"/>
          </p:cNvSpPr>
          <p:nvPr>
            <p:ph type="body" sz="quarter" idx="12"/>
          </p:nvPr>
        </p:nvSpPr>
        <p:spPr>
          <a:xfrm>
            <a:off x="1549400" y="2402840"/>
            <a:ext cx="10058400" cy="635000"/>
          </a:xfrm>
        </p:spPr>
        <p:txBody>
          <a:bodyPr anchor="ctr"/>
          <a:lstStyle>
            <a:lvl1pPr marL="0" indent="0" algn="l">
              <a:buNone/>
              <a:defRPr sz="2800" b="1">
                <a:solidFill>
                  <a:srgbClr val="153F82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endParaRPr lang="zh-CN"/>
          </a:p>
        </p:txBody>
      </p:sp>
      <p:sp>
        <p:nvSpPr>
          <p:cNvPr id="922" name="编号占位符 3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317240"/>
            <a:ext cx="8255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0" indent="0" algn="l">
              <a:buNone/>
              <a:defRPr sz="3600" b="1">
                <a:solidFill>
                  <a:srgbClr val="153F82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932" name="目录条目 3"/>
          <p:cNvSpPr>
            <a:spLocks noGrp="1"/>
          </p:cNvSpPr>
          <p:nvPr>
            <p:ph type="body" sz="quarter" idx="13"/>
          </p:nvPr>
        </p:nvSpPr>
        <p:spPr>
          <a:xfrm>
            <a:off x="1549400" y="3317240"/>
            <a:ext cx="10058400" cy="635000"/>
          </a:xfrm>
        </p:spPr>
        <p:txBody>
          <a:bodyPr anchor="ctr"/>
          <a:lstStyle>
            <a:lvl1pPr marL="0" indent="0" algn="l">
              <a:buNone/>
              <a:defRPr sz="2800" b="1">
                <a:solidFill>
                  <a:srgbClr val="153F82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endParaRPr lang="zh-CN"/>
          </a:p>
        </p:txBody>
      </p:sp>
      <p:sp>
        <p:nvSpPr>
          <p:cNvPr id="923" name="编号占位符 4"/>
          <p:cNvSpPr>
            <a:spLocks noGrp="1"/>
          </p:cNvSpPr>
          <p:nvPr>
            <p:ph type="body" sz="quarter" idx="24" hasCustomPrompt="1"/>
          </p:nvPr>
        </p:nvSpPr>
        <p:spPr>
          <a:xfrm>
            <a:off x="635000" y="4231640"/>
            <a:ext cx="8255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0" indent="0" algn="l">
              <a:buNone/>
              <a:defRPr sz="3600" b="1">
                <a:solidFill>
                  <a:srgbClr val="153F82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r>
              <a:rPr lang="en-US" dirty="0"/>
              <a:t>04</a:t>
            </a:r>
            <a:endParaRPr lang="en-US" dirty="0"/>
          </a:p>
        </p:txBody>
      </p:sp>
      <p:sp>
        <p:nvSpPr>
          <p:cNvPr id="933" name="目录条目 4"/>
          <p:cNvSpPr>
            <a:spLocks noGrp="1"/>
          </p:cNvSpPr>
          <p:nvPr>
            <p:ph type="body" sz="quarter" idx="14"/>
          </p:nvPr>
        </p:nvSpPr>
        <p:spPr>
          <a:xfrm>
            <a:off x="1549400" y="4231640"/>
            <a:ext cx="10058400" cy="635000"/>
          </a:xfrm>
        </p:spPr>
        <p:txBody>
          <a:bodyPr anchor="ctr"/>
          <a:lstStyle>
            <a:lvl1pPr marL="0" indent="0" algn="l">
              <a:buNone/>
              <a:defRPr sz="2800" b="1">
                <a:solidFill>
                  <a:srgbClr val="153F82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endParaRPr lang="zh-CN"/>
          </a:p>
        </p:txBody>
      </p:sp>
      <p:sp>
        <p:nvSpPr>
          <p:cNvPr id="924" name="编号占位符 5"/>
          <p:cNvSpPr>
            <a:spLocks noGrp="1"/>
          </p:cNvSpPr>
          <p:nvPr>
            <p:ph type="body" sz="quarter" idx="25" hasCustomPrompt="1"/>
          </p:nvPr>
        </p:nvSpPr>
        <p:spPr>
          <a:xfrm>
            <a:off x="635000" y="5146040"/>
            <a:ext cx="825500" cy="63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0" indent="0" algn="l">
              <a:buNone/>
              <a:defRPr sz="3600" b="1">
                <a:solidFill>
                  <a:srgbClr val="153F82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r>
              <a:rPr lang="en-US" dirty="0"/>
              <a:t>05</a:t>
            </a:r>
            <a:endParaRPr lang="en-US" dirty="0"/>
          </a:p>
        </p:txBody>
      </p:sp>
      <p:sp>
        <p:nvSpPr>
          <p:cNvPr id="934" name="目录条目 5"/>
          <p:cNvSpPr>
            <a:spLocks noGrp="1"/>
          </p:cNvSpPr>
          <p:nvPr>
            <p:ph type="body" sz="quarter" idx="15"/>
          </p:nvPr>
        </p:nvSpPr>
        <p:spPr>
          <a:xfrm>
            <a:off x="1549400" y="5146040"/>
            <a:ext cx="10058400" cy="635000"/>
          </a:xfrm>
        </p:spPr>
        <p:txBody>
          <a:bodyPr anchor="ctr"/>
          <a:lstStyle>
            <a:lvl1pPr marL="0" indent="0" algn="l">
              <a:buNone/>
              <a:defRPr sz="2800" b="1">
                <a:solidFill>
                  <a:srgbClr val="153F82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endParaRPr lang="zh-CN"/>
          </a:p>
        </p:txBody>
      </p:sp>
      <p:pic>
        <p:nvPicPr>
          <p:cNvPr id="5" name="校徽"/>
          <p:cNvPicPr/>
          <p:nvPr userDrawn="1"/>
        </p:nvPicPr>
        <p:blipFill rotWithShape="1"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6025" t="9515" r="16514" b="9905"/>
          <a:stretch>
            <a:fillRect/>
          </a:stretch>
        </p:blipFill>
        <p:spPr>
          <a:xfrm>
            <a:off x="11162632" y="60075"/>
            <a:ext cx="836717" cy="689082"/>
          </a:xfrm>
          <a:prstGeom prst="rect">
            <a:avLst/>
          </a:prstGeom>
        </p:spPr>
      </p:pic>
      <p:pic>
        <p:nvPicPr>
          <p:cNvPr id="3" name="实验室Logo"/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65391" y1="31898" x2="65391" y2="31898"/>
                        <a14:foregroundMark x1="61483" y1="42504" x2="61483" y2="42504"/>
                      </a14:backgroundRemoval>
                    </a14:imgEffect>
                  </a14:imgLayer>
                </a14:imgProps>
              </a:ext>
            </a:extLst>
          </a:blip>
          <a:srcRect l="24701" t="27216" r="24390" b="21876"/>
          <a:stretch>
            <a:fillRect/>
          </a:stretch>
        </p:blipFill>
        <p:spPr>
          <a:xfrm>
            <a:off x="10426700" y="100965"/>
            <a:ext cx="513080" cy="513080"/>
          </a:xfrm>
          <a:prstGeom prst="rect">
            <a:avLst/>
          </a:prstGeom>
        </p:spPr>
      </p:pic>
      <p:sp>
        <p:nvSpPr>
          <p:cNvPr id="4" name="饰带文字左"/>
          <p:cNvSpPr/>
          <p:nvPr userDrawn="1"/>
        </p:nvSpPr>
        <p:spPr>
          <a:xfrm>
            <a:off x="10222506" y="478653"/>
            <a:ext cx="894562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altLang="zh-CN" sz="1000" b="1" dirty="0">
                <a:solidFill>
                  <a:srgbClr val="153F82"/>
                </a:solidFill>
              </a:rPr>
              <a:t>REAL Lab</a:t>
            </a:r>
            <a:endParaRPr lang="en-US" altLang="zh-CN" sz="1000" b="1" dirty="0">
              <a:solidFill>
                <a:srgbClr val="153F8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顶栏灰带"/>
          <p:cNvSpPr/>
          <p:nvPr userDrawn="1"/>
        </p:nvSpPr>
        <p:spPr>
          <a:xfrm>
            <a:off x="7747000" y="-12700"/>
            <a:ext cx="4445000" cy="81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zh-CN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sp>
        <p:nvSpPr>
          <p:cNvPr id="901" name="顶栏"/>
          <p:cNvSpPr/>
          <p:nvPr userDrawn="1"/>
        </p:nvSpPr>
        <p:spPr>
          <a:xfrm>
            <a:off x="-25400" y="-12700"/>
            <a:ext cx="9099868" cy="812800"/>
          </a:xfrm>
          <a:custGeom>
            <a:avLst/>
            <a:gdLst/>
            <a:ahLst/>
            <a:cxnLst/>
            <a:rect l="l" t="t" r="r" b="b"/>
            <a:pathLst>
              <a:path w="14291" h="1529">
                <a:moveTo>
                  <a:pt x="0" y="0"/>
                </a:moveTo>
                <a:lnTo>
                  <a:pt x="14291" y="0"/>
                </a:lnTo>
                <a:lnTo>
                  <a:pt x="12709" y="1529"/>
                </a:lnTo>
                <a:lnTo>
                  <a:pt x="0" y="1529"/>
                </a:lnTo>
                <a:close/>
              </a:path>
            </a:pathLst>
          </a:custGeom>
          <a:solidFill>
            <a:srgbClr val="153F82"/>
          </a:solidFill>
          <a:ln>
            <a:noFill/>
          </a:ln>
        </p:spPr>
        <p:txBody>
          <a:bodyPr/>
          <a:lstStyle/>
          <a:p>
            <a:endParaRPr lang="zh-CN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81000" y="9390"/>
            <a:ext cx="7239000" cy="768621"/>
          </a:xfrm>
        </p:spPr>
        <p:txBody>
          <a:bodyPr lIns="90000" tIns="46800" rIns="90000" bIns="46800" anchor="ctr" anchorCtr="0">
            <a:normAutofit/>
          </a:bodyPr>
          <a:lstStyle>
            <a:lvl1pPr algn="l">
              <a:defRPr sz="3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524000" y="2768600"/>
            <a:ext cx="9144000" cy="1320800"/>
          </a:xfrm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sz="3200" b="1">
                <a:solidFill>
                  <a:srgbClr val="153F82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校徽"/>
          <p:cNvPicPr/>
          <p:nvPr userDrawn="1"/>
        </p:nvPicPr>
        <p:blipFill rotWithShape="1"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6025" t="9515" r="16514" b="9905"/>
          <a:stretch>
            <a:fillRect/>
          </a:stretch>
        </p:blipFill>
        <p:spPr>
          <a:xfrm>
            <a:off x="11162632" y="60075"/>
            <a:ext cx="836717" cy="689082"/>
          </a:xfrm>
          <a:prstGeom prst="rect">
            <a:avLst/>
          </a:prstGeom>
        </p:spPr>
      </p:pic>
      <p:pic>
        <p:nvPicPr>
          <p:cNvPr id="10" name="实验室Logo"/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65391" y1="31898" x2="65391" y2="31898"/>
                        <a14:foregroundMark x1="61483" y1="42504" x2="61483" y2="42504"/>
                      </a14:backgroundRemoval>
                    </a14:imgEffect>
                  </a14:imgLayer>
                </a14:imgProps>
              </a:ext>
            </a:extLst>
          </a:blip>
          <a:srcRect l="24701" t="27216" r="24390" b="21876"/>
          <a:stretch>
            <a:fillRect/>
          </a:stretch>
        </p:blipFill>
        <p:spPr>
          <a:xfrm>
            <a:off x="10426700" y="100965"/>
            <a:ext cx="513080" cy="513080"/>
          </a:xfrm>
          <a:prstGeom prst="rect">
            <a:avLst/>
          </a:prstGeom>
        </p:spPr>
      </p:pic>
      <p:sp>
        <p:nvSpPr>
          <p:cNvPr id="11" name="饰带文字左"/>
          <p:cNvSpPr/>
          <p:nvPr userDrawn="1"/>
        </p:nvSpPr>
        <p:spPr>
          <a:xfrm>
            <a:off x="10222506" y="478653"/>
            <a:ext cx="894562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altLang="zh-CN" sz="1000" b="1" dirty="0">
                <a:solidFill>
                  <a:srgbClr val="153F82"/>
                </a:solidFill>
              </a:rPr>
              <a:t>REAL Lab</a:t>
            </a:r>
            <a:endParaRPr lang="en-US" altLang="zh-CN" sz="1000" b="1" dirty="0">
              <a:solidFill>
                <a:srgbClr val="153F82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顶栏灰带"/>
          <p:cNvSpPr/>
          <p:nvPr userDrawn="1"/>
        </p:nvSpPr>
        <p:spPr>
          <a:xfrm>
            <a:off x="7747000" y="-12700"/>
            <a:ext cx="4445000" cy="81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zh-CN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sp>
        <p:nvSpPr>
          <p:cNvPr id="901" name="顶栏"/>
          <p:cNvSpPr/>
          <p:nvPr userDrawn="1"/>
        </p:nvSpPr>
        <p:spPr>
          <a:xfrm>
            <a:off x="-25400" y="-12700"/>
            <a:ext cx="9099868" cy="812800"/>
          </a:xfrm>
          <a:custGeom>
            <a:avLst/>
            <a:gdLst/>
            <a:ahLst/>
            <a:cxnLst/>
            <a:rect l="l" t="t" r="r" b="b"/>
            <a:pathLst>
              <a:path w="14291" h="1529">
                <a:moveTo>
                  <a:pt x="0" y="0"/>
                </a:moveTo>
                <a:lnTo>
                  <a:pt x="14291" y="0"/>
                </a:lnTo>
                <a:lnTo>
                  <a:pt x="12709" y="1529"/>
                </a:lnTo>
                <a:lnTo>
                  <a:pt x="0" y="1529"/>
                </a:lnTo>
                <a:close/>
              </a:path>
            </a:pathLst>
          </a:custGeom>
          <a:solidFill>
            <a:srgbClr val="153F82"/>
          </a:solidFill>
          <a:ln>
            <a:noFill/>
          </a:ln>
        </p:spPr>
        <p:txBody>
          <a:bodyPr/>
          <a:lstStyle/>
          <a:p>
            <a:endParaRPr lang="zh-CN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9390"/>
            <a:ext cx="7239000" cy="768621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algn="l">
              <a:defRPr sz="3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校徽"/>
          <p:cNvPicPr/>
          <p:nvPr userDrawn="1"/>
        </p:nvPicPr>
        <p:blipFill rotWithShape="1"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6025" t="9515" r="16514" b="9905"/>
          <a:stretch>
            <a:fillRect/>
          </a:stretch>
        </p:blipFill>
        <p:spPr>
          <a:xfrm>
            <a:off x="11162632" y="60075"/>
            <a:ext cx="836717" cy="689082"/>
          </a:xfrm>
          <a:prstGeom prst="rect">
            <a:avLst/>
          </a:prstGeom>
        </p:spPr>
      </p:pic>
      <p:pic>
        <p:nvPicPr>
          <p:cNvPr id="9" name="实验室Logo"/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65391" y1="31898" x2="65391" y2="31898"/>
                        <a14:foregroundMark x1="61483" y1="42504" x2="61483" y2="42504"/>
                      </a14:backgroundRemoval>
                    </a14:imgEffect>
                  </a14:imgLayer>
                </a14:imgProps>
              </a:ext>
            </a:extLst>
          </a:blip>
          <a:srcRect l="24701" t="27216" r="24390" b="21876"/>
          <a:stretch>
            <a:fillRect/>
          </a:stretch>
        </p:blipFill>
        <p:spPr>
          <a:xfrm>
            <a:off x="10426700" y="100965"/>
            <a:ext cx="513080" cy="513080"/>
          </a:xfrm>
          <a:prstGeom prst="rect">
            <a:avLst/>
          </a:prstGeom>
        </p:spPr>
      </p:pic>
      <p:sp>
        <p:nvSpPr>
          <p:cNvPr id="10" name="饰带文字左"/>
          <p:cNvSpPr/>
          <p:nvPr userDrawn="1"/>
        </p:nvSpPr>
        <p:spPr>
          <a:xfrm>
            <a:off x="10222506" y="478653"/>
            <a:ext cx="894562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altLang="zh-CN" sz="1000" b="1" dirty="0">
                <a:solidFill>
                  <a:srgbClr val="153F82"/>
                </a:solidFill>
              </a:rPr>
              <a:t>REAL Lab</a:t>
            </a:r>
            <a:endParaRPr lang="en-US" altLang="zh-CN" sz="1000" b="1" dirty="0">
              <a:solidFill>
                <a:srgbClr val="153F82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顶栏灰带"/>
          <p:cNvSpPr/>
          <p:nvPr userDrawn="1"/>
        </p:nvSpPr>
        <p:spPr>
          <a:xfrm>
            <a:off x="7747000" y="-12700"/>
            <a:ext cx="4445000" cy="81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zh-CN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sp>
        <p:nvSpPr>
          <p:cNvPr id="901" name="顶栏"/>
          <p:cNvSpPr/>
          <p:nvPr userDrawn="1"/>
        </p:nvSpPr>
        <p:spPr>
          <a:xfrm>
            <a:off x="-25400" y="-12700"/>
            <a:ext cx="9099868" cy="812800"/>
          </a:xfrm>
          <a:custGeom>
            <a:avLst/>
            <a:gdLst/>
            <a:ahLst/>
            <a:cxnLst/>
            <a:rect l="l" t="t" r="r" b="b"/>
            <a:pathLst>
              <a:path w="14291" h="1529">
                <a:moveTo>
                  <a:pt x="0" y="0"/>
                </a:moveTo>
                <a:lnTo>
                  <a:pt x="14291" y="0"/>
                </a:lnTo>
                <a:lnTo>
                  <a:pt x="12709" y="1529"/>
                </a:lnTo>
                <a:lnTo>
                  <a:pt x="0" y="1529"/>
                </a:lnTo>
                <a:close/>
              </a:path>
            </a:pathLst>
          </a:custGeom>
          <a:solidFill>
            <a:srgbClr val="153F82"/>
          </a:solidFill>
          <a:ln>
            <a:noFill/>
          </a:ln>
        </p:spPr>
        <p:txBody>
          <a:bodyPr/>
          <a:lstStyle/>
          <a:p>
            <a:endParaRPr lang="zh-CN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pic>
        <p:nvPicPr>
          <p:cNvPr id="903" name="校徽"/>
          <p:cNvPicPr/>
          <p:nvPr userDrawn="1"/>
        </p:nvPicPr>
        <p:blipFill rotWithShape="1"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6025" t="9515" r="16514" b="9905"/>
          <a:stretch>
            <a:fillRect/>
          </a:stretch>
        </p:blipFill>
        <p:spPr>
          <a:xfrm>
            <a:off x="11162632" y="60075"/>
            <a:ext cx="836717" cy="6890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9390"/>
            <a:ext cx="7239000" cy="768621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algn="l">
              <a:defRPr sz="3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4200" y="1188720"/>
            <a:ext cx="11023600" cy="5181600"/>
          </a:xfrm>
        </p:spPr>
        <p:txBody>
          <a:bodyPr vert="horz" lIns="90000" tIns="46800" rIns="90000" bIns="46800" rtlCol="0">
            <a:normAutofit/>
          </a:bodyPr>
          <a:lstStyle>
            <a:lvl1pPr indent="-356235" eaLnBrk="1" fontAlgn="auto" latinLnBrk="0" hangingPunct="1">
              <a:defRPr sz="2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  <a:lvl2pPr indent="-288290" eaLnBrk="1" fontAlgn="auto" latinLnBrk="0" hangingPunct="1">
              <a:buSzPct val="100000"/>
              <a:defRPr sz="2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2pPr>
            <a:lvl3pPr indent="-215900" eaLnBrk="1" fontAlgn="auto" latinLnBrk="0" hangingPunct="1">
              <a:buSzPct val="55000"/>
              <a:buFont typeface="Wingdings" panose="05000000000000000000" charset="0"/>
              <a:buChar char=""/>
              <a:defRPr sz="24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3pPr>
            <a:lvl4pPr marL="1386205" eaLnBrk="1" fontAlgn="auto" latinLnBrk="0" hangingPunct="1">
              <a:defRPr sz="1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4pPr>
            <a:lvl5pPr marL="1839595" eaLnBrk="1" fontAlgn="auto" latinLnBrk="0" hangingPunct="1">
              <a:defRPr sz="1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实验室Logo"/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65391" y1="31898" x2="65391" y2="31898"/>
                        <a14:foregroundMark x1="61483" y1="42504" x2="61483" y2="42504"/>
                      </a14:backgroundRemoval>
                    </a14:imgEffect>
                  </a14:imgLayer>
                </a14:imgProps>
              </a:ext>
            </a:extLst>
          </a:blip>
          <a:srcRect l="24701" t="27216" r="24390" b="21876"/>
          <a:stretch>
            <a:fillRect/>
          </a:stretch>
        </p:blipFill>
        <p:spPr>
          <a:xfrm>
            <a:off x="10426700" y="100965"/>
            <a:ext cx="513080" cy="513080"/>
          </a:xfrm>
          <a:prstGeom prst="rect">
            <a:avLst/>
          </a:prstGeom>
        </p:spPr>
      </p:pic>
      <p:sp>
        <p:nvSpPr>
          <p:cNvPr id="9" name="饰带文字左"/>
          <p:cNvSpPr/>
          <p:nvPr userDrawn="1"/>
        </p:nvSpPr>
        <p:spPr>
          <a:xfrm>
            <a:off x="10222506" y="478653"/>
            <a:ext cx="894562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altLang="zh-CN" sz="1000" b="1" dirty="0">
                <a:solidFill>
                  <a:srgbClr val="153F82"/>
                </a:solidFill>
              </a:rPr>
              <a:t>REAL Lab</a:t>
            </a:r>
            <a:endParaRPr lang="en-US" altLang="zh-CN" sz="1000" b="1" dirty="0">
              <a:solidFill>
                <a:srgbClr val="153F82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顶栏灰带"/>
          <p:cNvSpPr/>
          <p:nvPr userDrawn="1"/>
        </p:nvSpPr>
        <p:spPr>
          <a:xfrm>
            <a:off x="7747000" y="-12700"/>
            <a:ext cx="4445000" cy="81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zh-CN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sp>
        <p:nvSpPr>
          <p:cNvPr id="901" name="顶栏"/>
          <p:cNvSpPr/>
          <p:nvPr userDrawn="1"/>
        </p:nvSpPr>
        <p:spPr>
          <a:xfrm>
            <a:off x="-25400" y="-12700"/>
            <a:ext cx="9099868" cy="812800"/>
          </a:xfrm>
          <a:custGeom>
            <a:avLst/>
            <a:gdLst/>
            <a:ahLst/>
            <a:cxnLst/>
            <a:rect l="l" t="t" r="r" b="b"/>
            <a:pathLst>
              <a:path w="14291" h="1529">
                <a:moveTo>
                  <a:pt x="0" y="0"/>
                </a:moveTo>
                <a:lnTo>
                  <a:pt x="14291" y="0"/>
                </a:lnTo>
                <a:lnTo>
                  <a:pt x="12709" y="1529"/>
                </a:lnTo>
                <a:lnTo>
                  <a:pt x="0" y="1529"/>
                </a:lnTo>
                <a:close/>
              </a:path>
            </a:pathLst>
          </a:custGeom>
          <a:solidFill>
            <a:srgbClr val="153F82"/>
          </a:solidFill>
          <a:ln>
            <a:noFill/>
          </a:ln>
        </p:spPr>
        <p:txBody>
          <a:bodyPr/>
          <a:lstStyle/>
          <a:p>
            <a:endParaRPr lang="zh-CN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9390"/>
            <a:ext cx="7239000" cy="768621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algn="l">
              <a:defRPr sz="3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校徽"/>
          <p:cNvPicPr/>
          <p:nvPr userDrawn="1"/>
        </p:nvPicPr>
        <p:blipFill rotWithShape="1"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6025" t="9515" r="16514" b="9905"/>
          <a:stretch>
            <a:fillRect/>
          </a:stretch>
        </p:blipFill>
        <p:spPr>
          <a:xfrm>
            <a:off x="11162632" y="60075"/>
            <a:ext cx="836717" cy="689082"/>
          </a:xfrm>
          <a:prstGeom prst="rect">
            <a:avLst/>
          </a:prstGeom>
        </p:spPr>
      </p:pic>
      <p:pic>
        <p:nvPicPr>
          <p:cNvPr id="11" name="实验室Logo"/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65391" y1="31898" x2="65391" y2="31898"/>
                        <a14:foregroundMark x1="61483" y1="42504" x2="61483" y2="42504"/>
                      </a14:backgroundRemoval>
                    </a14:imgEffect>
                  </a14:imgLayer>
                </a14:imgProps>
              </a:ext>
            </a:extLst>
          </a:blip>
          <a:srcRect l="24701" t="27216" r="24390" b="21876"/>
          <a:stretch>
            <a:fillRect/>
          </a:stretch>
        </p:blipFill>
        <p:spPr>
          <a:xfrm>
            <a:off x="10426700" y="100965"/>
            <a:ext cx="513080" cy="513080"/>
          </a:xfrm>
          <a:prstGeom prst="rect">
            <a:avLst/>
          </a:prstGeom>
        </p:spPr>
      </p:pic>
      <p:sp>
        <p:nvSpPr>
          <p:cNvPr id="12" name="饰带文字左"/>
          <p:cNvSpPr/>
          <p:nvPr userDrawn="1"/>
        </p:nvSpPr>
        <p:spPr>
          <a:xfrm>
            <a:off x="10222506" y="478653"/>
            <a:ext cx="894562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altLang="zh-CN" sz="1000" b="1" dirty="0">
                <a:solidFill>
                  <a:srgbClr val="153F82"/>
                </a:solidFill>
              </a:rPr>
              <a:t>REAL Lab</a:t>
            </a:r>
            <a:endParaRPr lang="en-US" altLang="zh-CN" sz="1000" b="1" dirty="0">
              <a:solidFill>
                <a:srgbClr val="153F82"/>
              </a:solidFill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>
          <a:xfrm>
            <a:off x="584200" y="1188720"/>
            <a:ext cx="5168900" cy="5181600"/>
          </a:xfrm>
        </p:spPr>
        <p:txBody>
          <a:bodyPr vert="horz" lIns="90000" tIns="46800" rIns="90000" bIns="46800" rtlCol="0">
            <a:normAutofit/>
          </a:bodyPr>
          <a:lstStyle>
            <a:lvl1pPr indent="-356235" eaLnBrk="1" fontAlgn="auto" latinLnBrk="0" hangingPunct="1">
              <a:defRPr sz="2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  <a:lvl2pPr indent="-288290" eaLnBrk="1" fontAlgn="auto" latinLnBrk="0" hangingPunct="1">
              <a:buSzPct val="100000"/>
              <a:defRPr sz="2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2pPr>
            <a:lvl3pPr indent="-215900" eaLnBrk="1" fontAlgn="auto" latinLnBrk="0" hangingPunct="1">
              <a:buSzPct val="55000"/>
              <a:buFont typeface="Wingdings" panose="05000000000000000000" charset="0"/>
              <a:buChar char=""/>
              <a:defRPr sz="24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3pPr>
            <a:lvl4pPr marL="1386205" eaLnBrk="1" fontAlgn="auto" latinLnBrk="0" hangingPunct="1">
              <a:defRPr sz="1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4pPr>
            <a:lvl5pPr marL="1839595" eaLnBrk="1" fontAlgn="auto" latinLnBrk="0" hangingPunct="1">
              <a:defRPr sz="1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idx="13"/>
          </p:nvPr>
        </p:nvSpPr>
        <p:spPr>
          <a:xfrm>
            <a:off x="6271260" y="1188720"/>
            <a:ext cx="5168900" cy="5181600"/>
          </a:xfrm>
        </p:spPr>
        <p:txBody>
          <a:bodyPr vert="horz" lIns="90000" tIns="46800" rIns="90000" bIns="46800" rtlCol="0">
            <a:normAutofit/>
          </a:bodyPr>
          <a:lstStyle>
            <a:lvl1pPr indent="-356235" eaLnBrk="1" fontAlgn="auto" latinLnBrk="0" hangingPunct="1">
              <a:defRPr sz="2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  <a:lvl2pPr indent="-288290" eaLnBrk="1" fontAlgn="auto" latinLnBrk="0" hangingPunct="1">
              <a:buSzPct val="100000"/>
              <a:defRPr sz="2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2pPr>
            <a:lvl3pPr indent="-215900" eaLnBrk="1" fontAlgn="auto" latinLnBrk="0" hangingPunct="1">
              <a:buSzPct val="55000"/>
              <a:buFont typeface="Wingdings" panose="05000000000000000000" charset="0"/>
              <a:buChar char=""/>
              <a:defRPr sz="24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3pPr>
            <a:lvl4pPr marL="1386205" eaLnBrk="1" fontAlgn="auto" latinLnBrk="0" hangingPunct="1">
              <a:defRPr sz="1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4pPr>
            <a:lvl5pPr marL="1839595" eaLnBrk="1" fontAlgn="auto" latinLnBrk="0" hangingPunct="1">
              <a:defRPr sz="1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顶栏灰带"/>
          <p:cNvSpPr/>
          <p:nvPr userDrawn="1"/>
        </p:nvSpPr>
        <p:spPr>
          <a:xfrm>
            <a:off x="7747000" y="-12700"/>
            <a:ext cx="4445000" cy="81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zh-CN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sp>
        <p:nvSpPr>
          <p:cNvPr id="901" name="顶栏"/>
          <p:cNvSpPr/>
          <p:nvPr userDrawn="1"/>
        </p:nvSpPr>
        <p:spPr>
          <a:xfrm>
            <a:off x="-25400" y="-12700"/>
            <a:ext cx="9099868" cy="812800"/>
          </a:xfrm>
          <a:custGeom>
            <a:avLst/>
            <a:gdLst/>
            <a:ahLst/>
            <a:cxnLst/>
            <a:rect l="l" t="t" r="r" b="b"/>
            <a:pathLst>
              <a:path w="14291" h="1529">
                <a:moveTo>
                  <a:pt x="0" y="0"/>
                </a:moveTo>
                <a:lnTo>
                  <a:pt x="14291" y="0"/>
                </a:lnTo>
                <a:lnTo>
                  <a:pt x="12709" y="1529"/>
                </a:lnTo>
                <a:lnTo>
                  <a:pt x="0" y="1529"/>
                </a:lnTo>
                <a:close/>
              </a:path>
            </a:pathLst>
          </a:custGeom>
          <a:solidFill>
            <a:srgbClr val="153F82"/>
          </a:solidFill>
          <a:ln>
            <a:noFill/>
          </a:ln>
        </p:spPr>
        <p:txBody>
          <a:bodyPr/>
          <a:lstStyle/>
          <a:p>
            <a:endParaRPr lang="zh-CN">
              <a:latin typeface="Microsoft YaHei Regular" panose="020B0503020204020204" charset="-122"/>
              <a:ea typeface="Microsoft YaHei Regular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9390"/>
            <a:ext cx="7239000" cy="768621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algn="l">
              <a:defRPr sz="3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584200" y="1137920"/>
            <a:ext cx="5410200" cy="5334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800" b="1" spc="2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97600" y="1137920"/>
            <a:ext cx="5410200" cy="5334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800" b="1" spc="2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icrosoft YaHei Regular" panose="020B0503020204020204" charset="-122"/>
                <a:ea typeface="Microsoft YaHei Regular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校徽"/>
          <p:cNvPicPr/>
          <p:nvPr userDrawn="1"/>
        </p:nvPicPr>
        <p:blipFill rotWithShape="1"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6025" t="9515" r="16514" b="9905"/>
          <a:stretch>
            <a:fillRect/>
          </a:stretch>
        </p:blipFill>
        <p:spPr>
          <a:xfrm>
            <a:off x="11162632" y="60075"/>
            <a:ext cx="836717" cy="689082"/>
          </a:xfrm>
          <a:prstGeom prst="rect">
            <a:avLst/>
          </a:prstGeom>
        </p:spPr>
      </p:pic>
      <p:pic>
        <p:nvPicPr>
          <p:cNvPr id="13" name="实验室Logo"/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65391" y1="31898" x2="65391" y2="31898"/>
                        <a14:foregroundMark x1="61483" y1="42504" x2="61483" y2="42504"/>
                      </a14:backgroundRemoval>
                    </a14:imgEffect>
                  </a14:imgLayer>
                </a14:imgProps>
              </a:ext>
            </a:extLst>
          </a:blip>
          <a:srcRect l="24701" t="27216" r="24390" b="21876"/>
          <a:stretch>
            <a:fillRect/>
          </a:stretch>
        </p:blipFill>
        <p:spPr>
          <a:xfrm>
            <a:off x="10426700" y="100965"/>
            <a:ext cx="513080" cy="513080"/>
          </a:xfrm>
          <a:prstGeom prst="rect">
            <a:avLst/>
          </a:prstGeom>
        </p:spPr>
      </p:pic>
      <p:sp>
        <p:nvSpPr>
          <p:cNvPr id="14" name="饰带文字左"/>
          <p:cNvSpPr/>
          <p:nvPr userDrawn="1"/>
        </p:nvSpPr>
        <p:spPr>
          <a:xfrm>
            <a:off x="10222506" y="478653"/>
            <a:ext cx="894562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altLang="zh-CN" sz="1000" b="1" dirty="0">
                <a:solidFill>
                  <a:srgbClr val="153F82"/>
                </a:solidFill>
              </a:rPr>
              <a:t>REAL Lab</a:t>
            </a:r>
            <a:endParaRPr lang="en-US" altLang="zh-CN" sz="1000" b="1" dirty="0">
              <a:solidFill>
                <a:srgbClr val="153F82"/>
              </a:solidFill>
            </a:endParaRPr>
          </a:p>
        </p:txBody>
      </p:sp>
      <p:sp>
        <p:nvSpPr>
          <p:cNvPr id="15" name="内容占位符 14"/>
          <p:cNvSpPr>
            <a:spLocks noGrp="1"/>
          </p:cNvSpPr>
          <p:nvPr>
            <p:ph idx="13"/>
          </p:nvPr>
        </p:nvSpPr>
        <p:spPr>
          <a:xfrm>
            <a:off x="584200" y="1772920"/>
            <a:ext cx="5409565" cy="4597400"/>
          </a:xfrm>
        </p:spPr>
        <p:txBody>
          <a:bodyPr vert="horz" lIns="90000" tIns="46800" rIns="90000" bIns="46800" rtlCol="0">
            <a:normAutofit/>
          </a:bodyPr>
          <a:lstStyle>
            <a:lvl1pPr indent="-356235" eaLnBrk="1" fontAlgn="auto" latinLnBrk="0" hangingPunct="1">
              <a:defRPr sz="2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  <a:lvl2pPr indent="-288290" eaLnBrk="1" fontAlgn="auto" latinLnBrk="0" hangingPunct="1">
              <a:buSzPct val="100000"/>
              <a:defRPr sz="2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2pPr>
            <a:lvl3pPr indent="-215900" eaLnBrk="1" fontAlgn="auto" latinLnBrk="0" hangingPunct="1">
              <a:buSzPct val="55000"/>
              <a:buFont typeface="Wingdings" panose="05000000000000000000" charset="0"/>
              <a:buChar char=""/>
              <a:defRPr sz="24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3pPr>
            <a:lvl4pPr marL="1386205" eaLnBrk="1" fontAlgn="auto" latinLnBrk="0" hangingPunct="1">
              <a:defRPr sz="1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4pPr>
            <a:lvl5pPr marL="1839595" eaLnBrk="1" fontAlgn="auto" latinLnBrk="0" hangingPunct="1">
              <a:defRPr sz="1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idx="14"/>
          </p:nvPr>
        </p:nvSpPr>
        <p:spPr>
          <a:xfrm>
            <a:off x="6198235" y="1899920"/>
            <a:ext cx="5409565" cy="4597400"/>
          </a:xfrm>
        </p:spPr>
        <p:txBody>
          <a:bodyPr vert="horz" lIns="90000" tIns="46800" rIns="90000" bIns="46800" rtlCol="0">
            <a:normAutofit/>
          </a:bodyPr>
          <a:lstStyle>
            <a:lvl1pPr indent="-356235" eaLnBrk="1" fontAlgn="auto" latinLnBrk="0" hangingPunct="1">
              <a:defRPr sz="2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1pPr>
            <a:lvl2pPr indent="-288290" eaLnBrk="1" fontAlgn="auto" latinLnBrk="0" hangingPunct="1">
              <a:buSzPct val="100000"/>
              <a:defRPr sz="2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2pPr>
            <a:lvl3pPr indent="-215900" eaLnBrk="1" fontAlgn="auto" latinLnBrk="0" hangingPunct="1">
              <a:buSzPct val="55000"/>
              <a:buFont typeface="Wingdings" panose="05000000000000000000" charset="0"/>
              <a:buChar char=""/>
              <a:defRPr sz="24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3pPr>
            <a:lvl4pPr marL="1386205" eaLnBrk="1" fontAlgn="auto" latinLnBrk="0" hangingPunct="1">
              <a:defRPr sz="1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4pPr>
            <a:lvl5pPr marL="1839595" eaLnBrk="1" fontAlgn="auto" latinLnBrk="0" hangingPunct="1">
              <a:defRPr sz="1800">
                <a:solidFill>
                  <a:schemeClr val="tx1"/>
                </a:solidFill>
                <a:latin typeface="Microsoft YaHei Regular" panose="020B0503020204020204" charset="-122"/>
                <a:ea typeface="Microsoft YaHei Regular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顶栏灰带"/>
          <p:cNvSpPr/>
          <p:nvPr userDrawn="1"/>
        </p:nvSpPr>
        <p:spPr>
          <a:xfrm>
            <a:off x="7747000" y="-12700"/>
            <a:ext cx="4445000" cy="812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901" name="顶栏"/>
          <p:cNvSpPr/>
          <p:nvPr userDrawn="1"/>
        </p:nvSpPr>
        <p:spPr>
          <a:xfrm>
            <a:off x="-25400" y="-12700"/>
            <a:ext cx="9099868" cy="812800"/>
          </a:xfrm>
          <a:custGeom>
            <a:avLst/>
            <a:gdLst/>
            <a:ahLst/>
            <a:cxnLst/>
            <a:rect l="l" t="t" r="r" b="b"/>
            <a:pathLst>
              <a:path w="14291" h="1529">
                <a:moveTo>
                  <a:pt x="0" y="0"/>
                </a:moveTo>
                <a:lnTo>
                  <a:pt x="14291" y="0"/>
                </a:lnTo>
                <a:lnTo>
                  <a:pt x="12709" y="1529"/>
                </a:lnTo>
                <a:lnTo>
                  <a:pt x="0" y="1529"/>
                </a:lnTo>
                <a:close/>
              </a:path>
            </a:pathLst>
          </a:custGeom>
          <a:solidFill>
            <a:srgbClr val="153F8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84200" y="1188720"/>
            <a:ext cx="7315200" cy="51816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28000" y="1188720"/>
            <a:ext cx="3479800" cy="51816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0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381000" y="9390"/>
            <a:ext cx="7239000" cy="768621"/>
          </a:xfrm>
        </p:spPr>
        <p:txBody>
          <a:bodyPr anchor="ctr"/>
          <a:lstStyle>
            <a:lvl1pPr algn="l"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pic>
        <p:nvPicPr>
          <p:cNvPr id="10" name="校徽"/>
          <p:cNvPicPr/>
          <p:nvPr userDrawn="1"/>
        </p:nvPicPr>
        <p:blipFill rotWithShape="1"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6025" t="9515" r="16514" b="9905"/>
          <a:stretch>
            <a:fillRect/>
          </a:stretch>
        </p:blipFill>
        <p:spPr>
          <a:xfrm>
            <a:off x="11162632" y="60075"/>
            <a:ext cx="836717" cy="689082"/>
          </a:xfrm>
          <a:prstGeom prst="rect">
            <a:avLst/>
          </a:prstGeom>
        </p:spPr>
      </p:pic>
      <p:pic>
        <p:nvPicPr>
          <p:cNvPr id="2" name="实验室Logo"/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65391" y1="31898" x2="65391" y2="31898"/>
                        <a14:foregroundMark x1="61483" y1="42504" x2="61483" y2="42504"/>
                      </a14:backgroundRemoval>
                    </a14:imgEffect>
                  </a14:imgLayer>
                </a14:imgProps>
              </a:ext>
            </a:extLst>
          </a:blip>
          <a:srcRect l="24701" t="27216" r="24390" b="21876"/>
          <a:stretch>
            <a:fillRect/>
          </a:stretch>
        </p:blipFill>
        <p:spPr>
          <a:xfrm>
            <a:off x="10426700" y="100965"/>
            <a:ext cx="513080" cy="513080"/>
          </a:xfrm>
          <a:prstGeom prst="rect">
            <a:avLst/>
          </a:prstGeom>
        </p:spPr>
      </p:pic>
      <p:sp>
        <p:nvSpPr>
          <p:cNvPr id="951" name="饰带文字左"/>
          <p:cNvSpPr/>
          <p:nvPr userDrawn="1"/>
        </p:nvSpPr>
        <p:spPr>
          <a:xfrm>
            <a:off x="10222506" y="478653"/>
            <a:ext cx="894562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altLang="zh-CN" sz="1000" b="1" dirty="0">
                <a:solidFill>
                  <a:srgbClr val="153F82"/>
                </a:solidFill>
              </a:rPr>
              <a:t>REAL Lab</a:t>
            </a:r>
            <a:endParaRPr lang="en-US" altLang="zh-CN" sz="1000" b="1" dirty="0">
              <a:solidFill>
                <a:srgbClr val="153F82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09600" y="2667000"/>
            <a:ext cx="10972800" cy="12700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algn="ctr">
              <a:defRPr sz="6000" b="1">
                <a:solidFill>
                  <a:srgbClr val="153F82"/>
                </a:solidFill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09600" y="4191000"/>
            <a:ext cx="10972800" cy="660400"/>
          </a:xfrm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6" name="实验室Logo"/>
          <p:cNvPicPr/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25875" y="207817"/>
            <a:ext cx="1770733" cy="1770733"/>
          </a:xfrm>
          <a:prstGeom prst="rect">
            <a:avLst/>
          </a:prstGeom>
        </p:spPr>
      </p:pic>
      <p:pic>
        <p:nvPicPr>
          <p:cNvPr id="8" name="校徽"/>
          <p:cNvPicPr/>
          <p:nvPr userDrawn="1"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43600" y="292100"/>
            <a:ext cx="2489200" cy="1714500"/>
          </a:xfrm>
          <a:prstGeom prst="rect">
            <a:avLst/>
          </a:prstGeom>
        </p:spPr>
      </p:pic>
      <p:sp>
        <p:nvSpPr>
          <p:cNvPr id="11" name="饰带文字左"/>
          <p:cNvSpPr/>
          <p:nvPr userDrawn="1"/>
        </p:nvSpPr>
        <p:spPr>
          <a:xfrm>
            <a:off x="4360821" y="1476238"/>
            <a:ext cx="894562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altLang="zh-CN" sz="1400" b="1" dirty="0">
                <a:solidFill>
                  <a:srgbClr val="153F82"/>
                </a:solidFill>
              </a:rPr>
              <a:t>REAL Lab</a:t>
            </a:r>
            <a:endParaRPr lang="en-US" altLang="zh-CN" sz="1400" b="1" dirty="0">
              <a:solidFill>
                <a:srgbClr val="153F8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300" normalizeH="0" baseline="0">
          <a:solidFill>
            <a:srgbClr val="153F82"/>
          </a:solidFill>
          <a:uFillTx/>
          <a:latin typeface="+mj-ea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15000"/>
        </a:lnSpc>
        <a:spcBef>
          <a:spcPts val="600"/>
        </a:spcBef>
        <a:spcAft>
          <a:spcPts val="300"/>
        </a:spcAft>
        <a:buClr>
          <a:srgbClr val="153F82"/>
        </a:buClr>
        <a:buSzPct val="85000"/>
        <a:buFont typeface="Wingdings" panose="05000000000000000000" pitchFamily="2" charset="2"/>
        <a:buChar char="q"/>
        <a:defRPr sz="2200" kern="1200">
          <a:solidFill>
            <a:schemeClr val="tx1"/>
          </a:solidFill>
        </a:defRPr>
      </a:lvl1pPr>
      <a:lvl2pPr marL="514350" indent="-171450" algn="l" defTabSz="914400" rtl="0" eaLnBrk="1" latinLnBrk="0" hangingPunct="1">
        <a:lnSpc>
          <a:spcPct val="115000"/>
        </a:lnSpc>
        <a:spcBef>
          <a:spcPts val="400"/>
        </a:spcBef>
        <a:spcAft>
          <a:spcPts val="200"/>
        </a:spcAft>
        <a:buClr>
          <a:srgbClr val="153F8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</a:defRPr>
      </a:lvl2pPr>
      <a:lvl3pPr marL="857250" indent="-171450" algn="l" defTabSz="914400" rtl="0" eaLnBrk="1" latinLnBrk="0" hangingPunct="1">
        <a:lnSpc>
          <a:spcPct val="115000"/>
        </a:lnSpc>
        <a:spcBef>
          <a:spcPts val="300"/>
        </a:spcBef>
        <a:spcAft>
          <a:spcPts val="200"/>
        </a:spcAft>
        <a:buClr>
          <a:srgbClr val="153F82"/>
        </a:buClr>
        <a:buFont typeface="Arial" panose="020B0604020202090204" pitchFamily="34" charset="0"/>
        <a:buChar char="·"/>
        <a:defRPr sz="1800" kern="1200">
          <a:solidFill>
            <a:schemeClr val="tx1"/>
          </a:solidFill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01040" y="2236200"/>
            <a:ext cx="10972800" cy="114300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cs typeface="+mj-ea"/>
              </a:rPr>
              <a:t>ReAct: Synergizing Reasoning and Acting in Language Models</a:t>
            </a:r>
            <a:endParaRPr kumimoji="1" lang="en-US" altLang="zh-CN" dirty="0">
              <a:cs typeface="+mj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24840" y="3710305"/>
            <a:ext cx="11023600" cy="1027430"/>
          </a:xfrm>
        </p:spPr>
        <p:txBody>
          <a:bodyPr>
            <a:normAutofit/>
          </a:bodyPr>
          <a:lstStyle/>
          <a:p>
            <a:r>
              <a:rPr kumimoji="1" lang="en-GB" altLang="zh-CN"/>
              <a:t>ICLR 2023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0"/>
          </p:nvPr>
        </p:nvSpPr>
        <p:spPr>
          <a:xfrm>
            <a:off x="3048000" y="4919513"/>
            <a:ext cx="6096000" cy="406400"/>
          </a:xfrm>
        </p:spPr>
        <p:txBody>
          <a:bodyPr>
            <a:normAutofit lnSpcReduction="10000"/>
          </a:bodyPr>
          <a:lstStyle/>
          <a:p>
            <a:r>
              <a:rPr kumimoji="1" lang="zh-CN" altLang="en-US"/>
              <a:t>汇报人：张三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3048000" y="5376713"/>
            <a:ext cx="6096000" cy="355600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/>
              <a:t>时间：</a:t>
            </a:r>
            <a:r>
              <a:rPr kumimoji="1" lang="en-US" altLang="zh-CN"/>
              <a:t>2026 </a:t>
            </a:r>
            <a:r>
              <a:rPr kumimoji="1" lang="zh-CN" altLang="en-US"/>
              <a:t>年 </a:t>
            </a:r>
            <a:r>
              <a:rPr kumimoji="1" lang="en-US" altLang="zh-CN"/>
              <a:t>6 </a:t>
            </a:r>
            <a:r>
              <a:rPr kumimoji="1" lang="zh-CN" altLang="en-US"/>
              <a:t>月</a:t>
            </a:r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84200" y="6076577"/>
            <a:ext cx="11023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 dirty="0">
                <a:solidFill>
                  <a:srgbClr val="595959"/>
                </a:solidFill>
              </a:rPr>
              <a:t>样例说明：本页使用「标题幻灯片」版式，标题</a:t>
            </a:r>
            <a:r>
              <a:rPr lang="en-US" altLang="zh-CN" sz="1400" dirty="0">
                <a:solidFill>
                  <a:srgbClr val="595959"/>
                </a:solidFill>
              </a:rPr>
              <a:t>/</a:t>
            </a:r>
            <a:r>
              <a:rPr lang="zh-CN" altLang="en-US" sz="1400" dirty="0">
                <a:solidFill>
                  <a:srgbClr val="595959"/>
                </a:solidFill>
              </a:rPr>
              <a:t>副标题</a:t>
            </a:r>
            <a:r>
              <a:rPr lang="en-US" altLang="zh-CN" sz="1400" dirty="0">
                <a:solidFill>
                  <a:srgbClr val="595959"/>
                </a:solidFill>
              </a:rPr>
              <a:t>/</a:t>
            </a:r>
            <a:r>
              <a:rPr lang="zh-CN" altLang="en-US" sz="1400" dirty="0">
                <a:solidFill>
                  <a:srgbClr val="595959"/>
                </a:solidFill>
              </a:rPr>
              <a:t>汇报人</a:t>
            </a:r>
            <a:r>
              <a:rPr lang="en-US" altLang="zh-CN" sz="1400" dirty="0">
                <a:solidFill>
                  <a:srgbClr val="595959"/>
                </a:solidFill>
              </a:rPr>
              <a:t>/</a:t>
            </a:r>
            <a:r>
              <a:rPr lang="zh-CN" altLang="en-US" sz="1400" dirty="0">
                <a:solidFill>
                  <a:srgbClr val="595959"/>
                </a:solidFill>
              </a:rPr>
              <a:t>时间均为占位符</a:t>
            </a:r>
            <a:endParaRPr lang="zh-CN" altLang="en-US" sz="1400" dirty="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研究背景与动机</a:t>
            </a:r>
            <a:endParaRPr kumimoji="1"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方法：</a:t>
            </a:r>
            <a:r>
              <a:rPr kumimoji="1" lang="en-US" altLang="zh-CN" dirty="0"/>
              <a:t> </a:t>
            </a:r>
            <a:r>
              <a:rPr kumimoji="1" lang="en-GB" altLang="zh-CN" dirty="0" err="1"/>
              <a:t>ReAct</a:t>
            </a:r>
            <a:r>
              <a:rPr kumimoji="1" lang="en-GB" altLang="zh-CN" dirty="0"/>
              <a:t> </a:t>
            </a:r>
            <a:r>
              <a:rPr kumimoji="1" lang="zh-CN" altLang="en-US" dirty="0"/>
              <a:t>推理</a:t>
            </a:r>
            <a:r>
              <a:rPr kumimoji="1" lang="en-US" altLang="zh-CN" dirty="0"/>
              <a:t>-</a:t>
            </a:r>
            <a:r>
              <a:rPr kumimoji="1" lang="zh-CN" altLang="en-US" dirty="0"/>
              <a:t>行动框架</a:t>
            </a:r>
            <a:endParaRPr kumimoji="1"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/>
              <a:t>实验设置与主要结果</a:t>
            </a:r>
            <a:endParaRPr kumimoji="1"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zh-CN" altLang="en-US" dirty="0"/>
              <a:t>对比分析：</a:t>
            </a:r>
            <a:r>
              <a:rPr kumimoji="1" lang="en-US" altLang="zh-CN" dirty="0"/>
              <a:t> </a:t>
            </a:r>
            <a:r>
              <a:rPr kumimoji="1" lang="en-GB" altLang="zh-CN" dirty="0" err="1"/>
              <a:t>CoT</a:t>
            </a:r>
            <a:r>
              <a:rPr kumimoji="1" lang="en-GB" altLang="zh-CN" dirty="0"/>
              <a:t> vs </a:t>
            </a:r>
            <a:r>
              <a:rPr kumimoji="1" lang="en-GB" altLang="zh-CN" dirty="0" err="1"/>
              <a:t>ReAct</a:t>
            </a:r>
            <a:endParaRPr kumimoji="1"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zh-CN" altLang="en-US"/>
              <a:t>总结与对我们工作的启发</a:t>
            </a:r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84200" y="6350000"/>
            <a:ext cx="11023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95959"/>
                </a:solidFill>
              </a:rPr>
              <a:t>样例说明</a:t>
            </a:r>
            <a:r>
              <a:rPr lang="en-US" altLang="zh-CN" sz="1400">
                <a:solidFill>
                  <a:srgbClr val="595959"/>
                </a:solidFill>
              </a:rPr>
              <a:t>:</a:t>
            </a:r>
            <a:r>
              <a:rPr lang="zh-CN" altLang="en-US" sz="1400">
                <a:solidFill>
                  <a:srgbClr val="595959"/>
                </a:solidFill>
              </a:rPr>
              <a:t>本页使用「目录页」版式</a:t>
            </a:r>
            <a:r>
              <a:rPr lang="en-US" altLang="zh-CN" sz="1400">
                <a:solidFill>
                  <a:srgbClr val="595959"/>
                </a:solidFill>
              </a:rPr>
              <a:t>,</a:t>
            </a:r>
            <a:r>
              <a:rPr lang="zh-CN" altLang="en-US" sz="1400">
                <a:solidFill>
                  <a:srgbClr val="595959"/>
                </a:solidFill>
              </a:rPr>
              <a:t>编号 </a:t>
            </a:r>
            <a:r>
              <a:rPr lang="en-US" altLang="zh-CN" sz="1400">
                <a:solidFill>
                  <a:srgbClr val="595959"/>
                </a:solidFill>
              </a:rPr>
              <a:t>01–05 </a:t>
            </a:r>
            <a:r>
              <a:rPr lang="zh-CN" altLang="en-US" sz="1400">
                <a:solidFill>
                  <a:srgbClr val="595959"/>
                </a:solidFill>
              </a:rPr>
              <a:t>与右侧条目均为占位符</a:t>
            </a:r>
            <a:r>
              <a:rPr lang="en-US" altLang="zh-CN" sz="1400">
                <a:solidFill>
                  <a:srgbClr val="595959"/>
                </a:solidFill>
              </a:rPr>
              <a:t>,</a:t>
            </a:r>
            <a:r>
              <a:rPr lang="zh-CN" altLang="en-US" sz="1400">
                <a:solidFill>
                  <a:srgbClr val="595959"/>
                </a:solidFill>
              </a:rPr>
              <a:t>可直接点击编辑</a:t>
            </a:r>
            <a:r>
              <a:rPr lang="en-US" altLang="zh-CN" sz="1400">
                <a:solidFill>
                  <a:srgbClr val="595959"/>
                </a:solidFill>
              </a:rPr>
              <a:t>,</a:t>
            </a:r>
            <a:r>
              <a:rPr lang="zh-CN" altLang="en-US" sz="1400">
                <a:solidFill>
                  <a:srgbClr val="595959"/>
                </a:solidFill>
              </a:rPr>
              <a:t>多余的可删除</a:t>
            </a:r>
            <a:endParaRPr lang="zh-CN" altLang="en-US" sz="14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 </a:t>
            </a:r>
            <a:r>
              <a:rPr kumimoji="1" lang="zh-CN" altLang="en-US" dirty="0"/>
              <a:t>研究背景与动机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01 </a:t>
            </a:r>
            <a:r>
              <a:rPr kumimoji="1" lang="zh-CN" altLang="en-US" dirty="0"/>
              <a:t>研究背景与动机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84200" y="6350000"/>
            <a:ext cx="11023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95959"/>
                </a:solidFill>
              </a:rPr>
              <a:t>样例说明：本页使用「节标题」版式，用于章节过渡；顶栏写编号</a:t>
            </a:r>
            <a:r>
              <a:rPr lang="en-US" altLang="zh-CN" sz="1400">
                <a:solidFill>
                  <a:srgbClr val="595959"/>
                </a:solidFill>
              </a:rPr>
              <a:t>+</a:t>
            </a:r>
            <a:r>
              <a:rPr lang="zh-CN" altLang="en-US" sz="1400">
                <a:solidFill>
                  <a:srgbClr val="595959"/>
                </a:solidFill>
              </a:rPr>
              <a:t>章节名，中央大字突出当前章节</a:t>
            </a:r>
            <a:endParaRPr lang="zh-CN" altLang="en-US" sz="14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9525"/>
            <a:ext cx="8490585" cy="768350"/>
          </a:xfrm>
        </p:spPr>
        <p:txBody>
          <a:bodyPr>
            <a:noAutofit/>
          </a:bodyPr>
          <a:lstStyle/>
          <a:p>
            <a:r>
              <a:rPr kumimoji="1" lang="en-US" altLang="zh-CN" dirty="0"/>
              <a:t>1.1 </a:t>
            </a:r>
            <a:r>
              <a:rPr kumimoji="1" lang="zh-CN" altLang="en-US" dirty="0"/>
              <a:t>研究背景：推理与行动的割裂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大模型的「想」与「做」长期割裂</a:t>
            </a:r>
            <a:endParaRPr lang="zh-CN" altLang="en-US" sz="2400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CoT 思维链:只推理、不行动,易产生事实幻觉与错误传播</a:t>
            </a:r>
            <a:endParaRPr lang="zh-CN" altLang="en-US" sz="2000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Act-only：</a:t>
            </a:r>
            <a:r>
              <a:rPr lang="en-US" altLang="zh-CN" sz="2000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只行动、缺推理,难以规划与纠错</a:t>
            </a:r>
            <a:endParaRPr lang="zh-CN" altLang="en-US" sz="2000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人类的决策方式：</a:t>
            </a:r>
            <a:r>
              <a:rPr lang="en-US" altLang="zh-CN" sz="2400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推理与行动交替进行、相互支撑</a:t>
            </a:r>
            <a:endParaRPr lang="zh-CN" altLang="en-US" sz="2400" b="1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「想」指导「做」：</a:t>
            </a:r>
            <a:r>
              <a:rPr lang="en-US" altLang="zh-CN" sz="2000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推理帮助制定与调整计划</a:t>
            </a:r>
            <a:endParaRPr lang="zh-CN" altLang="en-US" sz="2000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lvl="2"/>
            <a:r>
              <a:rPr lang="en-US" altLang="zh-CN" sz="2000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e.g. 先查证再回答,而非一次性生成</a:t>
            </a:r>
            <a:endParaRPr lang="en-US" altLang="zh-CN" sz="2000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「做」反哺「想」：</a:t>
            </a:r>
            <a:r>
              <a:rPr lang="en-US" altLang="zh-CN" sz="2000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外部信息修正内部推理</a:t>
            </a:r>
            <a:endParaRPr lang="zh-CN" altLang="en-US" sz="2000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核心问题：</a:t>
            </a:r>
            <a:r>
              <a:rPr lang="en-US" altLang="zh-CN" sz="2400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能否让语言模型像人一样边推理、边行动?</a:t>
            </a:r>
            <a:endParaRPr lang="zh-CN" altLang="en-US" sz="2400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4200" y="6350000"/>
            <a:ext cx="11023600" cy="30670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595959"/>
                </a:solidFill>
              </a:rPr>
              <a:t>【</a:t>
            </a:r>
            <a:r>
              <a:rPr lang="zh-CN" altLang="en-US" sz="1400">
                <a:solidFill>
                  <a:srgbClr val="595959"/>
                </a:solidFill>
              </a:rPr>
              <a:t>示例说明</a:t>
            </a:r>
            <a:r>
              <a:rPr lang="en-US" altLang="zh-CN" sz="1400">
                <a:solidFill>
                  <a:srgbClr val="595959"/>
                </a:solidFill>
              </a:rPr>
              <a:t>】</a:t>
            </a:r>
            <a:r>
              <a:rPr lang="zh-CN" altLang="en-US" sz="1400">
                <a:solidFill>
                  <a:srgbClr val="595959"/>
                </a:solidFill>
              </a:rPr>
              <a:t>本页为「标题和内容」版式</a:t>
            </a:r>
            <a:r>
              <a:rPr lang="en-US" altLang="zh-CN" sz="1400">
                <a:solidFill>
                  <a:srgbClr val="595959"/>
                </a:solidFill>
              </a:rPr>
              <a:t>:</a:t>
            </a:r>
            <a:r>
              <a:rPr lang="zh-CN" altLang="en-US" sz="1400">
                <a:solidFill>
                  <a:srgbClr val="595959"/>
                </a:solidFill>
              </a:rPr>
              <a:t>一级 ❑ </a:t>
            </a:r>
            <a:r>
              <a:rPr lang="en-US" altLang="zh-CN" sz="1400">
                <a:solidFill>
                  <a:srgbClr val="595959"/>
                </a:solidFill>
              </a:rPr>
              <a:t>/ </a:t>
            </a:r>
            <a:r>
              <a:rPr lang="zh-CN" altLang="en-US" sz="1400">
                <a:solidFill>
                  <a:srgbClr val="595959"/>
                </a:solidFill>
              </a:rPr>
              <a:t>二级 ▪ </a:t>
            </a:r>
            <a:r>
              <a:rPr lang="en-US" altLang="zh-CN" sz="1400">
                <a:solidFill>
                  <a:srgbClr val="595959"/>
                </a:solidFill>
              </a:rPr>
              <a:t>/ </a:t>
            </a:r>
            <a:r>
              <a:rPr lang="zh-CN" altLang="en-US" sz="1400">
                <a:solidFill>
                  <a:srgbClr val="595959"/>
                </a:solidFill>
              </a:rPr>
              <a:t>三级 </a:t>
            </a:r>
            <a:r>
              <a:rPr lang="en-US" altLang="zh-CN" sz="1400">
                <a:solidFill>
                  <a:srgbClr val="595959"/>
                </a:solidFill>
              </a:rPr>
              <a:t>– </a:t>
            </a:r>
            <a:r>
              <a:rPr lang="zh-CN" altLang="en-US" sz="1400">
                <a:solidFill>
                  <a:srgbClr val="595959"/>
                </a:solidFill>
              </a:rPr>
              <a:t>列表</a:t>
            </a:r>
            <a:r>
              <a:rPr lang="en-US" altLang="zh-CN" sz="1400">
                <a:solidFill>
                  <a:srgbClr val="595959"/>
                </a:solidFill>
              </a:rPr>
              <a:t>,</a:t>
            </a:r>
            <a:r>
              <a:rPr lang="zh-CN" altLang="en-US" sz="1400">
                <a:solidFill>
                  <a:srgbClr val="595959"/>
                </a:solidFill>
              </a:rPr>
              <a:t>字号 </a:t>
            </a:r>
            <a:r>
              <a:rPr lang="en-US" altLang="zh-CN" sz="1400">
                <a:solidFill>
                  <a:srgbClr val="595959"/>
                </a:solidFill>
              </a:rPr>
              <a:t>22/20/18</a:t>
            </a:r>
            <a:r>
              <a:rPr lang="en-GB" altLang="zh-CN" sz="1400">
                <a:solidFill>
                  <a:srgbClr val="595959"/>
                </a:solidFill>
              </a:rPr>
              <a:t>pt </a:t>
            </a:r>
            <a:r>
              <a:rPr lang="zh-CN" altLang="en-US" sz="1400">
                <a:solidFill>
                  <a:srgbClr val="595959"/>
                </a:solidFill>
              </a:rPr>
              <a:t>自动继承，重点</a:t>
            </a:r>
            <a:r>
              <a:rPr lang="zh-CN" altLang="en-US" sz="1400" b="1">
                <a:solidFill>
                  <a:srgbClr val="C00000"/>
                </a:solidFill>
                <a:latin typeface="Microsoft YaHei" panose="020B0503020204020204" charset="-122"/>
                <a:ea typeface="Microsoft YaHei" panose="020B0503020204020204" charset="-122"/>
              </a:rPr>
              <a:t>深红加粗</a:t>
            </a:r>
            <a:endParaRPr lang="zh-CN" altLang="en-US" sz="1400" b="1">
              <a:solidFill>
                <a:srgbClr val="C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9525"/>
            <a:ext cx="8349615" cy="768350"/>
          </a:xfrm>
        </p:spPr>
        <p:txBody>
          <a:bodyPr>
            <a:noAutofit/>
          </a:bodyPr>
          <a:lstStyle/>
          <a:p>
            <a:r>
              <a:rPr kumimoji="1" lang="en-GB" altLang="zh-CN" dirty="0"/>
              <a:t>2.1 </a:t>
            </a:r>
            <a:r>
              <a:rPr kumimoji="1" lang="en-GB" altLang="zh-CN" dirty="0" err="1"/>
              <a:t>ReAct</a:t>
            </a:r>
            <a:r>
              <a:rPr kumimoji="1" lang="en-GB" altLang="zh-CN" dirty="0"/>
              <a:t> </a:t>
            </a:r>
            <a:r>
              <a:rPr kumimoji="1" lang="zh-CN" altLang="en-US" dirty="0"/>
              <a:t>框架：</a:t>
            </a:r>
            <a:r>
              <a:rPr kumimoji="1" lang="en-GB" altLang="zh-CN" dirty="0"/>
              <a:t>Reason + Act</a:t>
            </a:r>
            <a:endParaRPr kumimoji="1" lang="en-GB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584200" y="1188720"/>
            <a:ext cx="5410200" cy="5181600"/>
          </a:xfrm>
        </p:spPr>
        <p:txBody>
          <a:bodyPr/>
          <a:lstStyle/>
          <a:p>
            <a:r>
              <a:rPr kumimoji="1" lang="zh-CN" altLang="en-US" sz="24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核心思想</a:t>
            </a:r>
            <a:endParaRPr kumimoji="1" lang="zh-CN" altLang="en-US" sz="2400" dirty="0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lvl="1"/>
            <a:r>
              <a:rPr kumimoji="1" lang="zh-CN" altLang="en-US" sz="24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在同一轨迹中交替生成</a:t>
            </a:r>
            <a:r>
              <a:rPr kumimoji="1" lang="en-US" altLang="zh-CN" sz="24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:</a:t>
            </a:r>
            <a:endParaRPr kumimoji="1" lang="en-US" altLang="zh-CN" sz="2400" dirty="0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lvl="2"/>
            <a:r>
              <a:rPr kumimoji="1" lang="zh-CN" altLang="en-US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推理</a:t>
            </a:r>
            <a:r>
              <a:rPr kumimoji="1" lang="en-US" altLang="zh-CN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(</a:t>
            </a:r>
            <a:r>
              <a:rPr kumimoji="1" lang="en-GB" altLang="zh-CN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Thought)</a:t>
            </a:r>
            <a:r>
              <a:rPr kumimoji="1" lang="zh-CN" altLang="en-GB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：</a:t>
            </a:r>
            <a:r>
              <a:rPr kumimoji="1" lang="en-US" altLang="zh-CN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 </a:t>
            </a:r>
            <a:r>
              <a:rPr kumimoji="1" lang="zh-CN" altLang="en-US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分解任务、制定计划</a:t>
            </a:r>
            <a:endParaRPr kumimoji="1" lang="zh-CN" altLang="en-US" sz="2000" dirty="0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lvl="2"/>
            <a:r>
              <a:rPr kumimoji="1" lang="zh-CN" altLang="en-US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行动</a:t>
            </a:r>
            <a:r>
              <a:rPr kumimoji="1" lang="en-US" altLang="zh-CN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(</a:t>
            </a:r>
            <a:r>
              <a:rPr kumimoji="1" lang="en-GB" altLang="zh-CN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Action)</a:t>
            </a:r>
            <a:r>
              <a:rPr kumimoji="1" lang="zh-CN" altLang="en-GB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：</a:t>
            </a:r>
            <a:r>
              <a:rPr kumimoji="1" lang="en-US" altLang="zh-CN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 </a:t>
            </a:r>
            <a:r>
              <a:rPr kumimoji="1" lang="zh-CN" altLang="en-US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调用外部工具 </a:t>
            </a:r>
            <a:r>
              <a:rPr kumimoji="1" lang="en-US" altLang="zh-CN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/ </a:t>
            </a:r>
            <a:r>
              <a:rPr kumimoji="1" lang="zh-CN" altLang="en-US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环境</a:t>
            </a:r>
            <a:endParaRPr kumimoji="1" lang="zh-CN" altLang="en-US" sz="2000" dirty="0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lvl="2"/>
            <a:r>
              <a:rPr kumimoji="1" lang="zh-CN" altLang="en-US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观察</a:t>
            </a:r>
            <a:r>
              <a:rPr kumimoji="1" lang="en-US" altLang="zh-CN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(</a:t>
            </a:r>
            <a:r>
              <a:rPr kumimoji="1" lang="en-GB" altLang="zh-CN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Observation)</a:t>
            </a:r>
            <a:r>
              <a:rPr kumimoji="1" lang="zh-CN" altLang="en-GB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：</a:t>
            </a:r>
            <a:r>
              <a:rPr kumimoji="1" lang="en-US" altLang="zh-CN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 </a:t>
            </a:r>
            <a:r>
              <a:rPr kumimoji="1" lang="zh-CN" altLang="en-US" sz="20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接收环境反馈</a:t>
            </a:r>
            <a:endParaRPr kumimoji="1" lang="zh-CN" altLang="en-US" sz="2000" dirty="0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pPr lvl="2"/>
            <a:r>
              <a:rPr kumimoji="1" lang="zh-CN" altLang="en-US" sz="2000" b="1" dirty="0">
                <a:solidFill>
                  <a:srgbClr val="C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推理空间扩展为「语言 </a:t>
            </a:r>
            <a:r>
              <a:rPr kumimoji="1" lang="en-US" altLang="zh-CN" sz="2000" b="1" dirty="0">
                <a:solidFill>
                  <a:srgbClr val="C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+ </a:t>
            </a:r>
            <a:r>
              <a:rPr kumimoji="1" lang="zh-CN" altLang="en-US" sz="2000" b="1" dirty="0">
                <a:solidFill>
                  <a:srgbClr val="C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行动」</a:t>
            </a:r>
            <a:endParaRPr kumimoji="1" lang="zh-CN" altLang="en-US" sz="2000" b="1" dirty="0">
              <a:solidFill>
                <a:srgbClr val="C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4294967295"/>
          </p:nvPr>
        </p:nvSpPr>
        <p:spPr>
          <a:xfrm>
            <a:off x="6197600" y="1188720"/>
            <a:ext cx="5410200" cy="5181600"/>
          </a:xfrm>
        </p:spPr>
        <p:txBody>
          <a:bodyPr/>
          <a:lstStyle/>
          <a:p>
            <a:r>
              <a:rPr kumimoji="1" lang="zh-CN" altLang="en-US" sz="24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技术要点</a:t>
            </a:r>
            <a:endParaRPr kumimoji="1" lang="zh-CN" altLang="en-US" sz="2400" dirty="0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r>
              <a:rPr kumimoji="1" lang="zh-CN" altLang="en-US" sz="24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少样本提示即可。无需微调</a:t>
            </a:r>
            <a:endParaRPr kumimoji="1" lang="zh-CN" altLang="en-US" sz="2400" dirty="0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r>
              <a:rPr kumimoji="1" lang="zh-CN" altLang="en-US" sz="24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行动空间</a:t>
            </a:r>
            <a:r>
              <a:rPr kumimoji="1" lang="en-US" altLang="zh-CN" sz="24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:</a:t>
            </a:r>
            <a:r>
              <a:rPr kumimoji="1" lang="en-GB" altLang="zh-CN" sz="24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search / lookup / finish</a:t>
            </a:r>
            <a:endParaRPr kumimoji="1" lang="en-GB" altLang="zh-CN" sz="2400" dirty="0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r>
              <a:rPr kumimoji="1" lang="zh-CN" altLang="en-US" sz="24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支持 </a:t>
            </a:r>
            <a:r>
              <a:rPr kumimoji="1" lang="en-GB" altLang="zh-CN" sz="2400" dirty="0" err="1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HotpotQA</a:t>
            </a:r>
            <a:r>
              <a:rPr kumimoji="1" lang="zh-CN" altLang="en-GB" sz="24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、</a:t>
            </a:r>
            <a:r>
              <a:rPr kumimoji="1" lang="en-GB" altLang="zh-CN" sz="24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FEVER</a:t>
            </a:r>
            <a:r>
              <a:rPr kumimoji="1" lang="zh-CN" altLang="en-GB" sz="24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、</a:t>
            </a:r>
            <a:r>
              <a:rPr kumimoji="1" lang="en-GB" altLang="zh-CN" sz="2400" dirty="0" err="1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ALFWorld</a:t>
            </a:r>
            <a:r>
              <a:rPr kumimoji="1" lang="zh-CN" altLang="en-GB" sz="24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、</a:t>
            </a:r>
            <a:r>
              <a:rPr kumimoji="1" lang="en-GB" altLang="zh-CN" sz="2400" dirty="0" err="1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WebSho</a:t>
            </a:r>
            <a:r>
              <a:rPr kumimoji="1" lang="en-US" altLang="en-GB" sz="2400" dirty="0" err="1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p</a:t>
            </a:r>
            <a:endParaRPr kumimoji="1" lang="en-GB" altLang="zh-CN" sz="2400" dirty="0" err="1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  <a:p>
            <a:r>
              <a:rPr kumimoji="1" lang="zh-CN" altLang="en-US" sz="24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失败可解释</a:t>
            </a:r>
            <a:r>
              <a:rPr kumimoji="1" lang="en-US" altLang="zh-CN" sz="24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:</a:t>
            </a:r>
            <a:r>
              <a:rPr kumimoji="1" lang="zh-CN" altLang="en-US" sz="2400" dirty="0"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轨迹可读、可人工干预</a:t>
            </a:r>
            <a:endParaRPr kumimoji="1" lang="zh-CN" altLang="en-US" sz="2400" dirty="0">
              <a:latin typeface="Microsoft YaHei Regular" panose="020B0503020204020204" charset="-122"/>
              <a:ea typeface="Microsoft YaHei Regular" panose="020B0503020204020204" charset="-122"/>
              <a:cs typeface="Microsoft YaHei Regular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4200" y="6350000"/>
            <a:ext cx="11023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595959"/>
                </a:solidFill>
              </a:rPr>
              <a:t>【</a:t>
            </a:r>
            <a:r>
              <a:rPr lang="zh-CN" altLang="en-US" sz="1400">
                <a:solidFill>
                  <a:srgbClr val="595959"/>
                </a:solidFill>
              </a:rPr>
              <a:t>示例说明</a:t>
            </a:r>
            <a:r>
              <a:rPr lang="en-US" altLang="zh-CN" sz="1400">
                <a:solidFill>
                  <a:srgbClr val="595959"/>
                </a:solidFill>
              </a:rPr>
              <a:t>】</a:t>
            </a:r>
            <a:r>
              <a:rPr lang="zh-CN" altLang="en-US" sz="1400">
                <a:solidFill>
                  <a:srgbClr val="595959"/>
                </a:solidFill>
              </a:rPr>
              <a:t>本页为「两栏内容」版式</a:t>
            </a:r>
            <a:r>
              <a:rPr lang="en-US" altLang="zh-CN" sz="1400">
                <a:solidFill>
                  <a:srgbClr val="595959"/>
                </a:solidFill>
              </a:rPr>
              <a:t>:</a:t>
            </a:r>
            <a:r>
              <a:rPr lang="zh-CN" altLang="en-US" sz="1400">
                <a:solidFill>
                  <a:srgbClr val="595959"/>
                </a:solidFill>
              </a:rPr>
              <a:t>左右两个内容占位符</a:t>
            </a:r>
            <a:r>
              <a:rPr lang="en-US" altLang="zh-CN" sz="1400">
                <a:solidFill>
                  <a:srgbClr val="595959"/>
                </a:solidFill>
              </a:rPr>
              <a:t>,</a:t>
            </a:r>
            <a:r>
              <a:rPr lang="zh-CN" altLang="en-US" sz="1400">
                <a:solidFill>
                  <a:srgbClr val="595959"/>
                </a:solidFill>
              </a:rPr>
              <a:t>适合并列要点或图文混排</a:t>
            </a:r>
            <a:endParaRPr lang="zh-CN" altLang="en-US" sz="14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/>
              <a:t>2.2 CoT vs ReAct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GB" altLang="zh-CN" dirty="0" err="1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CoT</a:t>
            </a:r>
            <a:r>
              <a:rPr kumimoji="1" lang="en-GB" altLang="zh-CN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kumimoji="1" lang="zh-CN" altLang="en-US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思维链</a:t>
            </a:r>
            <a:endParaRPr kumimoji="1" lang="zh-CN" altLang="en-US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kumimoji="1" lang="en-GB" altLang="zh-CN" dirty="0" err="1">
                <a:latin typeface="Microsoft YaHei" panose="020B0503020204020204" charset="-122"/>
                <a:ea typeface="Microsoft YaHei" panose="020B0503020204020204" charset="-122"/>
              </a:rPr>
              <a:t>ReAct</a:t>
            </a:r>
            <a:endParaRPr kumimoji="1" lang="zh-CN" altLang="en-US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zh-CN" altLang="en-US" sz="2400" dirty="0"/>
              <a:t>封闭的内部推理</a:t>
            </a:r>
            <a:r>
              <a:rPr kumimoji="1" lang="en-US" altLang="zh-CN" sz="2400" dirty="0"/>
              <a:t>,</a:t>
            </a:r>
            <a:r>
              <a:rPr kumimoji="1" lang="zh-CN" altLang="en-US" sz="2400" dirty="0"/>
              <a:t>不接触外部世界</a:t>
            </a:r>
            <a:endParaRPr kumimoji="1" lang="zh-CN" altLang="en-US" sz="2400" dirty="0"/>
          </a:p>
          <a:p>
            <a:r>
              <a:rPr kumimoji="1" lang="zh-CN" altLang="en-US" sz="2400" dirty="0"/>
              <a:t>知识截止于参数</a:t>
            </a:r>
            <a:r>
              <a:rPr kumimoji="1" lang="en-US" altLang="zh-CN" sz="2400" dirty="0"/>
              <a:t>,</a:t>
            </a:r>
            <a:r>
              <a:rPr kumimoji="1" lang="zh-CN" altLang="en-US" sz="2400" dirty="0"/>
              <a:t>易幻觉</a:t>
            </a:r>
            <a:endParaRPr kumimoji="1" lang="zh-CN" altLang="en-US" sz="2400" dirty="0"/>
          </a:p>
          <a:p>
            <a:r>
              <a:rPr kumimoji="1" lang="zh-CN" altLang="en-US" sz="2400" dirty="0"/>
              <a:t>推理链一错到底</a:t>
            </a:r>
            <a:r>
              <a:rPr kumimoji="1" lang="en-US" altLang="zh-CN" sz="2400" dirty="0"/>
              <a:t>,</a:t>
            </a:r>
            <a:r>
              <a:rPr kumimoji="1" lang="zh-CN" altLang="en-US" sz="2400" dirty="0"/>
              <a:t>无法纠偏</a:t>
            </a:r>
            <a:endParaRPr kumimoji="1" lang="zh-CN" altLang="en-US" sz="2400" dirty="0"/>
          </a:p>
          <a:p>
            <a:r>
              <a:rPr kumimoji="1" lang="zh-CN" altLang="en-US" sz="2400" dirty="0"/>
              <a:t>适合纯逻辑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数学类任务</a:t>
            </a:r>
            <a:endParaRPr kumimoji="1" lang="zh-CN" altLang="en-US" sz="2400" dirty="0"/>
          </a:p>
        </p:txBody>
      </p:sp>
      <p:sp>
        <p:nvSpPr>
          <p:cNvPr id="6" name="内容占位符 5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kumimoji="1" lang="zh-CN" altLang="en-US" sz="2400" dirty="0"/>
              <a:t>推理与行动交替</a:t>
            </a:r>
            <a:r>
              <a:rPr kumimoji="1" lang="en-US" altLang="zh-CN" sz="2400" dirty="0"/>
              <a:t>,</a:t>
            </a:r>
            <a:r>
              <a:rPr kumimoji="1" lang="zh-CN" altLang="en-US" sz="2400" dirty="0"/>
              <a:t>实时获取外部证据</a:t>
            </a:r>
            <a:endParaRPr kumimoji="1" lang="zh-CN" altLang="en-US" sz="2400" dirty="0"/>
          </a:p>
          <a:p>
            <a:r>
              <a:rPr kumimoji="1" lang="zh-CN" altLang="en-US" sz="2400" dirty="0"/>
              <a:t>以检索结果为依据</a:t>
            </a:r>
            <a:r>
              <a:rPr kumimoji="1" lang="en-US" altLang="zh-CN" sz="2400" dirty="0"/>
              <a:t>,</a:t>
            </a:r>
            <a:r>
              <a:rPr kumimoji="1" lang="zh-CN" altLang="en-US" sz="2400" dirty="0"/>
              <a:t>显著降低幻觉</a:t>
            </a:r>
            <a:endParaRPr kumimoji="1" lang="zh-CN" altLang="en-US" sz="2400" dirty="0"/>
          </a:p>
          <a:p>
            <a:r>
              <a:rPr kumimoji="1" lang="zh-CN" altLang="en-US" sz="2400" dirty="0"/>
              <a:t>根据观察动态调整计划</a:t>
            </a:r>
            <a:endParaRPr kumimoji="1" lang="zh-CN" altLang="en-US" sz="2400" dirty="0"/>
          </a:p>
          <a:p>
            <a:r>
              <a:rPr kumimoji="1" lang="zh-CN" altLang="en-US" sz="2400" dirty="0"/>
              <a:t>适合知识密集与交互式任务</a:t>
            </a:r>
            <a:endParaRPr kumimoji="1"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584200" y="6350000"/>
            <a:ext cx="11023600" cy="30670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595959"/>
                </a:solidFill>
              </a:rPr>
              <a:t>【</a:t>
            </a:r>
            <a:r>
              <a:rPr lang="zh-CN" altLang="en-US" sz="1400">
                <a:solidFill>
                  <a:srgbClr val="595959"/>
                </a:solidFill>
              </a:rPr>
              <a:t>示例说明</a:t>
            </a:r>
            <a:r>
              <a:rPr lang="en-US" altLang="zh-CN" sz="1400">
                <a:solidFill>
                  <a:srgbClr val="595959"/>
                </a:solidFill>
              </a:rPr>
              <a:t>】</a:t>
            </a:r>
            <a:r>
              <a:rPr lang="zh-CN" altLang="en-US" sz="1400">
                <a:solidFill>
                  <a:srgbClr val="595959"/>
                </a:solidFill>
              </a:rPr>
              <a:t>本页为「比较」版式</a:t>
            </a:r>
            <a:r>
              <a:rPr lang="en-US" altLang="zh-CN" sz="1400">
                <a:solidFill>
                  <a:srgbClr val="595959"/>
                </a:solidFill>
              </a:rPr>
              <a:t>:</a:t>
            </a:r>
            <a:r>
              <a:rPr lang="zh-CN" altLang="en-US" sz="1400">
                <a:solidFill>
                  <a:srgbClr val="595959"/>
                </a:solidFill>
              </a:rPr>
              <a:t>两列各带小标题</a:t>
            </a:r>
            <a:r>
              <a:rPr lang="en-US" altLang="zh-CN" sz="1400">
                <a:solidFill>
                  <a:srgbClr val="595959"/>
                </a:solidFill>
              </a:rPr>
              <a:t>,</a:t>
            </a:r>
            <a:r>
              <a:rPr lang="zh-CN" altLang="en-US" sz="1400">
                <a:solidFill>
                  <a:srgbClr val="595959"/>
                </a:solidFill>
              </a:rPr>
              <a:t>适合方法对比、消融前后对照</a:t>
            </a:r>
            <a:endParaRPr lang="zh-CN" altLang="en-US" sz="14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3.1 </a:t>
            </a:r>
            <a:r>
              <a:rPr kumimoji="1" lang="zh-CN" altLang="en-US"/>
              <a:t>实验结果：知识密集型任务</a:t>
            </a:r>
            <a:endParaRPr kumimoji="1"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84200" y="6350000"/>
            <a:ext cx="11023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595959"/>
                </a:solidFill>
              </a:rPr>
              <a:t>【</a:t>
            </a:r>
            <a:r>
              <a:rPr lang="zh-CN" altLang="en-US" sz="1400">
                <a:solidFill>
                  <a:srgbClr val="595959"/>
                </a:solidFill>
              </a:rPr>
              <a:t>示例说明</a:t>
            </a:r>
            <a:r>
              <a:rPr lang="en-US" altLang="zh-CN" sz="1400">
                <a:solidFill>
                  <a:srgbClr val="595959"/>
                </a:solidFill>
              </a:rPr>
              <a:t>】</a:t>
            </a:r>
            <a:r>
              <a:rPr lang="zh-CN" altLang="en-US" sz="1400">
                <a:solidFill>
                  <a:srgbClr val="595959"/>
                </a:solidFill>
              </a:rPr>
              <a:t>本页为「仅标题」版式 </a:t>
            </a:r>
            <a:r>
              <a:rPr lang="en-US" altLang="zh-CN" sz="1400">
                <a:solidFill>
                  <a:srgbClr val="595959"/>
                </a:solidFill>
              </a:rPr>
              <a:t>+ </a:t>
            </a:r>
            <a:r>
              <a:rPr lang="zh-CN" altLang="en-US" sz="1400">
                <a:solidFill>
                  <a:srgbClr val="595959"/>
                </a:solidFill>
              </a:rPr>
              <a:t>原生图表</a:t>
            </a:r>
            <a:r>
              <a:rPr lang="en-US" altLang="zh-CN" sz="1400">
                <a:solidFill>
                  <a:srgbClr val="595959"/>
                </a:solidFill>
              </a:rPr>
              <a:t>:</a:t>
            </a:r>
            <a:r>
              <a:rPr lang="zh-CN" altLang="en-US" sz="1400">
                <a:solidFill>
                  <a:srgbClr val="595959"/>
                </a:solidFill>
              </a:rPr>
              <a:t>数据可编辑</a:t>
            </a:r>
            <a:r>
              <a:rPr lang="en-US" altLang="zh-CN" sz="1400">
                <a:solidFill>
                  <a:srgbClr val="595959"/>
                </a:solidFill>
              </a:rPr>
              <a:t>,</a:t>
            </a:r>
            <a:r>
              <a:rPr lang="zh-CN" altLang="en-US" sz="1400">
                <a:solidFill>
                  <a:srgbClr val="595959"/>
                </a:solidFill>
              </a:rPr>
              <a:t>配色自动继承主题</a:t>
            </a:r>
            <a:endParaRPr lang="zh-CN" altLang="en-US" sz="1400">
              <a:solidFill>
                <a:srgbClr val="595959"/>
              </a:solidFill>
            </a:endParaRPr>
          </a:p>
        </p:txBody>
      </p:sp>
      <p:graphicFrame>
        <p:nvGraphicFramePr>
          <p:cNvPr id="120" name="实验结果图表"/>
          <p:cNvGraphicFramePr/>
          <p:nvPr/>
        </p:nvGraphicFramePr>
        <p:xfrm>
          <a:off x="1651000" y="1333500"/>
          <a:ext cx="8890000" cy="488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idx="1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kumimoji="1" lang="zh-CN" altLang="en-US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左侧为图片占位符</a:t>
            </a:r>
            <a:r>
              <a:rPr kumimoji="1" lang="en-US" altLang="zh-CN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,</a:t>
            </a:r>
            <a:r>
              <a:rPr kumimoji="1" lang="zh-CN" altLang="en-US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可插入论文截图
</a:t>
            </a:r>
            <a:r>
              <a:rPr kumimoji="1" lang="en-GB" altLang="zh-CN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Thought → Action → Observation </a:t>
            </a:r>
            <a:r>
              <a:rPr kumimoji="1" lang="zh-CN" altLang="en-US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循环示意
建议导出论文 </a:t>
            </a:r>
            <a:r>
              <a:rPr kumimoji="1" lang="en-GB" altLang="zh-CN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Figure 1 </a:t>
            </a:r>
            <a:r>
              <a:rPr kumimoji="1" lang="zh-CN" altLang="en-US" dirty="0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直接粘贴</a:t>
            </a:r>
            <a:endParaRPr kumimoji="1" lang="zh-CN" altLang="en-US" dirty="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3.2 </a:t>
            </a:r>
            <a:r>
              <a:rPr kumimoji="1" lang="zh-CN" altLang="en-US"/>
              <a:t>案例：</a:t>
            </a:r>
            <a:r>
              <a:rPr kumimoji="1" lang="en-GB" altLang="zh-CN"/>
              <a:t>ReAct </a:t>
            </a:r>
            <a:r>
              <a:rPr kumimoji="1" lang="zh-CN" altLang="en-US"/>
              <a:t>轨迹示例</a:t>
            </a:r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84200" y="6350000"/>
            <a:ext cx="11023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595959"/>
                </a:solidFill>
              </a:rPr>
              <a:t>【</a:t>
            </a:r>
            <a:r>
              <a:rPr lang="zh-CN" altLang="en-US" sz="1400">
                <a:solidFill>
                  <a:srgbClr val="595959"/>
                </a:solidFill>
              </a:rPr>
              <a:t>示例说明</a:t>
            </a:r>
            <a:r>
              <a:rPr lang="en-US" altLang="zh-CN" sz="1400">
                <a:solidFill>
                  <a:srgbClr val="595959"/>
                </a:solidFill>
              </a:rPr>
              <a:t>】</a:t>
            </a:r>
            <a:r>
              <a:rPr lang="zh-CN" altLang="en-US" sz="1400">
                <a:solidFill>
                  <a:srgbClr val="595959"/>
                </a:solidFill>
              </a:rPr>
              <a:t>本页为「图片与标题」版式</a:t>
            </a:r>
            <a:r>
              <a:rPr lang="en-US" altLang="zh-CN" sz="1400">
                <a:solidFill>
                  <a:srgbClr val="595959"/>
                </a:solidFill>
              </a:rPr>
              <a:t>:</a:t>
            </a:r>
            <a:r>
              <a:rPr lang="zh-CN" altLang="en-US" sz="1400">
                <a:solidFill>
                  <a:srgbClr val="595959"/>
                </a:solidFill>
              </a:rPr>
              <a:t>左侧图片占位符</a:t>
            </a:r>
            <a:r>
              <a:rPr lang="en-US" altLang="zh-CN" sz="1400">
                <a:solidFill>
                  <a:srgbClr val="595959"/>
                </a:solidFill>
              </a:rPr>
              <a:t>(</a:t>
            </a:r>
            <a:r>
              <a:rPr lang="zh-CN" altLang="en-US" sz="1400">
                <a:solidFill>
                  <a:srgbClr val="595959"/>
                </a:solidFill>
              </a:rPr>
              <a:t>点击图标插入</a:t>
            </a:r>
            <a:r>
              <a:rPr lang="en-US" altLang="zh-CN" sz="1400">
                <a:solidFill>
                  <a:srgbClr val="595959"/>
                </a:solidFill>
              </a:rPr>
              <a:t>),</a:t>
            </a:r>
            <a:r>
              <a:rPr lang="zh-CN" altLang="en-US" sz="1400">
                <a:solidFill>
                  <a:srgbClr val="595959"/>
                </a:solidFill>
              </a:rPr>
              <a:t>右侧文字说明</a:t>
            </a:r>
            <a:endParaRPr lang="zh-CN" altLang="en-US" sz="14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4. </a:t>
            </a:r>
            <a:r>
              <a:rPr kumimoji="1" lang="zh-CN" altLang="en-US"/>
              <a:t>总结与启发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GB" altLang="zh-CN" sz="2400" dirty="0" err="1"/>
              <a:t>ReAct</a:t>
            </a:r>
            <a:r>
              <a:rPr kumimoji="1" lang="en-GB" altLang="zh-CN" sz="2400" dirty="0"/>
              <a:t> </a:t>
            </a:r>
            <a:r>
              <a:rPr kumimoji="1" lang="zh-CN" altLang="en-US" sz="2400" dirty="0">
                <a:latin typeface="+mj-ea"/>
                <a:ea typeface="+mj-ea"/>
              </a:rPr>
              <a:t>将与行动统一进同一条生成轨迹</a:t>
            </a:r>
            <a:r>
              <a:rPr kumimoji="1" lang="en-US" altLang="zh-CN" sz="2400" dirty="0"/>
              <a:t>,</a:t>
            </a:r>
            <a:r>
              <a:rPr kumimoji="1" lang="zh-CN" altLang="en-US" sz="2400" dirty="0"/>
              <a:t>简单却通用</a:t>
            </a:r>
            <a:endParaRPr kumimoji="1" lang="zh-CN" altLang="en-US" sz="2400" dirty="0"/>
          </a:p>
          <a:p>
            <a:r>
              <a:rPr kumimoji="1" lang="zh-CN" altLang="en-US" sz="2400" dirty="0"/>
              <a:t>外部知识接推理入显著降低幻觉</a:t>
            </a:r>
            <a:r>
              <a:rPr kumimoji="1" lang="en-US" altLang="zh-CN" sz="2400" dirty="0"/>
              <a:t>,</a:t>
            </a:r>
            <a:r>
              <a:rPr kumimoji="1" lang="zh-CN" altLang="en-US" sz="2400" dirty="0"/>
              <a:t>轨迹可读、可干预、可诊断</a:t>
            </a:r>
            <a:endParaRPr kumimoji="1" lang="zh-CN" altLang="en-US" sz="2400" dirty="0"/>
          </a:p>
          <a:p>
            <a:r>
              <a:rPr kumimoji="1" lang="zh-CN" altLang="en-US" sz="2400" dirty="0"/>
              <a:t>是后续 </a:t>
            </a:r>
            <a:r>
              <a:rPr kumimoji="1" lang="en-GB" altLang="zh-CN" sz="2400" dirty="0"/>
              <a:t>Agent </a:t>
            </a:r>
            <a:r>
              <a:rPr kumimoji="1" lang="zh-CN" altLang="en-US" sz="2400" dirty="0"/>
              <a:t>工作（</a:t>
            </a:r>
            <a:r>
              <a:rPr kumimoji="1" lang="en-GB" altLang="zh-CN" sz="2400" dirty="0" err="1"/>
              <a:t>Reflexion</a:t>
            </a:r>
            <a:r>
              <a:rPr kumimoji="1" lang="zh-CN" altLang="en-GB" sz="2400" dirty="0"/>
              <a:t>、</a:t>
            </a:r>
            <a:r>
              <a:rPr kumimoji="1" lang="en-GB" altLang="zh-CN" sz="2400" dirty="0" err="1"/>
              <a:t>Toolformer</a:t>
            </a:r>
            <a:r>
              <a:rPr kumimoji="1" lang="zh-CN" altLang="en-GB" sz="2400" dirty="0"/>
              <a:t>、</a:t>
            </a:r>
            <a:r>
              <a:rPr kumimoji="1" lang="en-GB" altLang="zh-CN" sz="2400" dirty="0" err="1"/>
              <a:t>AutoGPT</a:t>
            </a:r>
            <a:r>
              <a:rPr kumimoji="1" lang="zh-CN" altLang="en-GB" sz="2400" dirty="0" err="1"/>
              <a:t>）</a:t>
            </a:r>
            <a:r>
              <a:rPr kumimoji="1" lang="zh-CN" altLang="en-US" sz="2400" dirty="0"/>
              <a:t>的重要基石</a:t>
            </a:r>
            <a:endParaRPr kumimoji="1" lang="zh-CN" altLang="en-US" sz="2400" dirty="0"/>
          </a:p>
          <a:p>
            <a:r>
              <a:rPr kumimoji="1" lang="zh-CN" altLang="en-US" sz="2400" dirty="0"/>
              <a:t>对我们的启发</a:t>
            </a:r>
            <a:r>
              <a:rPr kumimoji="1" lang="en-US" altLang="zh-CN" sz="2400" dirty="0"/>
              <a:t>:</a:t>
            </a:r>
            <a:r>
              <a:rPr kumimoji="1" lang="zh-CN" altLang="en-US" sz="2400" dirty="0"/>
              <a:t>任务分解 </a:t>
            </a:r>
            <a:r>
              <a:rPr kumimoji="1" lang="en-US" altLang="zh-CN" sz="2400" dirty="0"/>
              <a:t>+ </a:t>
            </a:r>
            <a:r>
              <a:rPr kumimoji="1" lang="zh-CN" altLang="en-US" sz="2400" dirty="0"/>
              <a:t>工具调用是智能体能力的基本盘</a:t>
            </a:r>
            <a:endParaRPr kumimoji="1"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584200" y="6350000"/>
            <a:ext cx="11023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595959"/>
                </a:solidFill>
              </a:rPr>
              <a:t>【</a:t>
            </a:r>
            <a:r>
              <a:rPr lang="zh-CN" altLang="en-US" sz="1400">
                <a:solidFill>
                  <a:srgbClr val="595959"/>
                </a:solidFill>
              </a:rPr>
              <a:t>示例说明</a:t>
            </a:r>
            <a:r>
              <a:rPr lang="en-US" altLang="zh-CN" sz="1400">
                <a:solidFill>
                  <a:srgbClr val="595959"/>
                </a:solidFill>
              </a:rPr>
              <a:t>】</a:t>
            </a:r>
            <a:r>
              <a:rPr lang="zh-CN" altLang="en-US" sz="1400">
                <a:solidFill>
                  <a:srgbClr val="595959"/>
                </a:solidFill>
              </a:rPr>
              <a:t>总结页复用「标题和内容」版式</a:t>
            </a:r>
            <a:r>
              <a:rPr lang="en-US" altLang="zh-CN" sz="1400">
                <a:solidFill>
                  <a:srgbClr val="595959"/>
                </a:solidFill>
              </a:rPr>
              <a:t>;</a:t>
            </a:r>
            <a:r>
              <a:rPr lang="zh-CN" altLang="en-US" sz="1400">
                <a:solidFill>
                  <a:srgbClr val="595959"/>
                </a:solidFill>
              </a:rPr>
              <a:t>每页底部灰色小字仅为模板使用说明</a:t>
            </a:r>
            <a:r>
              <a:rPr lang="en-US" altLang="zh-CN" sz="1400">
                <a:solidFill>
                  <a:srgbClr val="595959"/>
                </a:solidFill>
              </a:rPr>
              <a:t>,</a:t>
            </a:r>
            <a:r>
              <a:rPr lang="zh-CN" altLang="en-US" sz="1400">
                <a:solidFill>
                  <a:srgbClr val="595959"/>
                </a:solidFill>
              </a:rPr>
              <a:t>正式使用时删除即可</a:t>
            </a:r>
            <a:endParaRPr lang="zh-CN" altLang="en-US" sz="14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6000" dirty="0"/>
              <a:t>谢谢聆听</a:t>
            </a:r>
            <a:endParaRPr kumimoji="1" lang="zh-CN" altLang="en-US" sz="60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kumimoji="1" lang="en-GB" altLang="zh-CN" sz="3200" b="1" dirty="0"/>
              <a:t>Q&amp;A</a:t>
            </a:r>
            <a:endParaRPr kumimoji="1" lang="zh-CN" altLang="en-US" sz="3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AL Lab 学术模板 [1781506363373]">
  <a:themeElements>
    <a:clrScheme name="WPS">
      <a:dk1>
        <a:sysClr val="windowText" lastClr="000000"/>
      </a:dk1>
      <a:lt1>
        <a:sysClr val="window" lastClr="FFFFFF"/>
      </a:lt1>
      <a:dk2>
        <a:srgbClr val="153F82"/>
      </a:dk2>
      <a:lt2>
        <a:srgbClr val="F2F2F2"/>
      </a:lt2>
      <a:accent1>
        <a:srgbClr val="153F82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微软雅黑"/>
        <a:font script="Hans" typeface="微软雅黑"/>
        <a:font script="Hant" typeface="微软雅黑"/>
      </a:majorFont>
      <a:minorFont>
        <a:latin typeface="Arial"/>
        <a:ea typeface="微软雅黑"/>
        <a:cs typeface="微软雅黑"/>
        <a:font script="Hans" typeface="微软雅黑"/>
        <a:font script="Hant" typeface="微软雅黑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1371</Words>
  <Application>WPS 演示</Application>
  <PresentationFormat>宽屏</PresentationFormat>
  <Paragraphs>111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微软雅黑</vt:lpstr>
      <vt:lpstr>宋体</vt:lpstr>
      <vt:lpstr>汉仪书宋二KW</vt:lpstr>
      <vt:lpstr>苹方-简</vt:lpstr>
      <vt:lpstr>Arial Unicode MS</vt:lpstr>
      <vt:lpstr>Microsoft YaHei</vt:lpstr>
      <vt:lpstr>Microsoft YaHei Regular</vt:lpstr>
      <vt:lpstr>Arial</vt:lpstr>
      <vt:lpstr>REAL Lab 学术模板 [1781506363373]</vt:lpstr>
      <vt:lpstr>ReAct:让大模型边推理边行动</vt:lpstr>
      <vt:lpstr>目录</vt:lpstr>
      <vt:lpstr>1. 研究背景与动机</vt:lpstr>
      <vt:lpstr>1.1 研究背景:推理与行动的割裂</vt:lpstr>
      <vt:lpstr>2.1 ReAct 框架:Reason + Act</vt:lpstr>
      <vt:lpstr>2.2 CoT vs ReAct</vt:lpstr>
      <vt:lpstr>3.1 实验结果:知识密集型任务</vt:lpstr>
      <vt:lpstr>3.2 案例:ReAct 轨迹示例</vt:lpstr>
      <vt:lpstr>4. 总结与启发</vt:lpstr>
      <vt:lpstr>谢谢聆听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沈永亮</cp:lastModifiedBy>
  <cp:revision>302</cp:revision>
  <dcterms:created xsi:type="dcterms:W3CDTF">2026-06-15T08:11:19Z</dcterms:created>
  <dcterms:modified xsi:type="dcterms:W3CDTF">2026-06-15T08:11:19Z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91D1AD36700B49567FB22F6ADD471AB5_43</vt:lpwstr>
  </property>
</Properties>
</file>